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6" r:id="rId3"/>
    <p:sldId id="258" r:id="rId4"/>
    <p:sldId id="260" r:id="rId5"/>
    <p:sldId id="261" r:id="rId6"/>
    <p:sldId id="296" r:id="rId7"/>
    <p:sldId id="297" r:id="rId8"/>
    <p:sldId id="298" r:id="rId9"/>
    <p:sldId id="299" r:id="rId10"/>
    <p:sldId id="301" r:id="rId11"/>
    <p:sldId id="302" r:id="rId12"/>
    <p:sldId id="303" r:id="rId13"/>
    <p:sldId id="304" r:id="rId14"/>
    <p:sldId id="305" r:id="rId15"/>
    <p:sldId id="306" r:id="rId16"/>
    <p:sldId id="307" r:id="rId17"/>
    <p:sldId id="308" r:id="rId18"/>
    <p:sldId id="309" r:id="rId19"/>
    <p:sldId id="311" r:id="rId20"/>
    <p:sldId id="312" r:id="rId21"/>
    <p:sldId id="313" r:id="rId22"/>
    <p:sldId id="314" r:id="rId23"/>
    <p:sldId id="295" r:id="rId24"/>
    <p:sldId id="259" r:id="rId25"/>
  </p:sldIdLst>
  <p:sldSz cx="12192000" cy="6858000"/>
  <p:notesSz cx="6858000" cy="9144000"/>
  <p:embeddedFontLst>
    <p:embeddedFont>
      <p:font typeface="Algerian" panose="04020705040A02060702" pitchFamily="82" charset="0"/>
      <p:regular r:id="rId27"/>
    </p:embeddedFont>
    <p:embeddedFont>
      <p:font typeface="Arial Black" panose="020B0A04020102020204" pitchFamily="34" charset="0"/>
      <p:bold r:id="rId28"/>
    </p:embeddedFont>
    <p:embeddedFont>
      <p:font typeface="Libre Baskerville" panose="02000000000000000000" pitchFamily="2" charset="0"/>
      <p:regular r:id="rId29"/>
      <p:bold r:id="rId30"/>
      <p:italic r:id="rId31"/>
    </p:embeddedFont>
    <p:embeddedFont>
      <p:font typeface="Segoe UI Semibold" panose="020B0702040204020203" pitchFamily="34" charset="0"/>
      <p:bold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347CAF7-F204-4211-8FE1-33932034486D}">
          <p14:sldIdLst>
            <p14:sldId id="256"/>
            <p14:sldId id="286"/>
            <p14:sldId id="258"/>
            <p14:sldId id="260"/>
            <p14:sldId id="261"/>
            <p14:sldId id="296"/>
            <p14:sldId id="297"/>
            <p14:sldId id="298"/>
            <p14:sldId id="299"/>
            <p14:sldId id="301"/>
            <p14:sldId id="302"/>
            <p14:sldId id="303"/>
            <p14:sldId id="304"/>
            <p14:sldId id="305"/>
            <p14:sldId id="306"/>
            <p14:sldId id="307"/>
            <p14:sldId id="308"/>
            <p14:sldId id="309"/>
            <p14:sldId id="311"/>
            <p14:sldId id="312"/>
            <p14:sldId id="313"/>
            <p14:sldId id="314"/>
            <p14:sldId id="295"/>
            <p14:sldId id="259"/>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3" d="100"/>
          <a:sy n="73" d="100"/>
        </p:scale>
        <p:origin x="998"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customschemas.google.com/relationships/presentationmetadata" Target="metadata"/><Relationship Id="rId21" Type="http://schemas.openxmlformats.org/officeDocument/2006/relationships/slide" Target="slides/slide20.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5T09:01:24.05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5T09:01:24.294"/>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5T09:01:40.378"/>
    </inkml:context>
    <inkml:brush xml:id="br0">
      <inkml:brushProperty name="width" value="0.35" units="cm"/>
      <inkml:brushProperty name="height" value="0.35" units="cm"/>
      <inkml:brushProperty name="color" value="#FFFFFF"/>
    </inkml:brush>
  </inkml:definitions>
  <inkml:trace contextRef="#ctx0" brushRef="#br0">607 518 24575,'12'-1'0,"0"0"0,-1 0 0,1-1 0,-1-2 0,1 1 0,18-8 0,65-37 0,-43 20 0,-36 19 0,0 2 0,0 1 0,31-8 0,-32 10 0,16-4 0,0 2 0,1 1 0,41 0 0,-38 5 0,114-4 0,-124 1 0,0-1 0,0-1 0,47-15 0,-55 15 0,0-1 0,0 3 0,1 0 0,32-2 0,75 7 0,-44 1 0,3-2 0,0-3 0,0-4 0,112-24 0,-94 5 0,542-101 0,-526 110 0,149-41 0,-232 51 0,0 2 0,1 1 0,-1 1 0,49 5 0,-3 0 0,-57-2 0,-1 2 0,1 0 0,-1 2 0,1 1 0,-2 1 0,1 0 0,39 21 0,-45-21 0,0 0 0,0-1 0,1 0 0,0-1 0,19 1 0,89 3 0,-50-6 0,11 10 0,13-1 0,156-10 0,-135-3 0,-194 28 0,-740 165-475,93-28 81,570-123 394,-268 86 0,74 19 713,219-90-557,90-42-156,-1-1 0,-66 14 0,-78-1 0,-13 5 0,125-18 0,-136 5 0,-72-19 0,103-2 0,-598 3 0,766 1 0,1-1 0,-1 0 0,0-1 0,1 1 0,-1-1 0,0 0 0,1 0 0,-1 0 0,1-1 0,0 0 0,-1 0 0,1 0 0,0 0 0,0-1 0,-6-5 0,6 4 0,1 0 0,1 0 0,-1 0 0,1 0 0,-1 0 0,1 0 0,0-1 0,1 0 0,-1 1 0,1-1 0,0 0 0,0 1 0,0-1 0,0-1 0,1-6 0,0 6 0,0 0 0,0 0 0,1 0 0,0 1 0,0-1 0,0 1 0,1-1 0,0 0 0,0 0 0,3-5 0,3-4 0,0 2 0,14-17 0,-15 22 0,-1 0 0,1-1 0,-2 1 0,1-1 0,-1 0 0,-1-2 0,0 2 0,6-19 0,44-212 0,-44 203 0,-9 36 0,-1-1 0,1 1 0,0-1 0,-1 0 0,1 0 0,0 1 0,0 0 0,0 0 0,0-1 0,0 1 0,0 0 0,0 0 0,0 0 0,1 0 0,-1 0 0,0 0 0,1 0 0,-1 0 0,3 0 0,-4 1 0,1 0 0,0 0 0,-1 0 0,1 0 0,-1 0 0,1 1 0,0-1 0,-1 0 0,1 0 0,0 1 0,-1-1 0,1 0 0,-1 1 0,1-1 0,-1 1 0,1-1 0,-1 1 0,1-1 0,-1 1 0,1-1 0,-1 1 0,0-1 0,1 1 0,-1 0 0,0-1 0,0 1 0,1 1 0,7 22 0,-7-20 0,19 66 0,-6-27 0,-2-1 0,-1 1 0,-3 1 0,4 64 0,-12-107 0,0 0 0,0 0 0,0 0 0,0 1 0,0-1 0,0 0 0,0 0 0,0 0 0,1 1 0,-1-1 0,0 0 0,1 0 0,-1 0 0,1 0 0,-1 0 0,1 0 0,0 1 0,0 1 0,0-3 0,0 0 0,-1 0 0,1 0 0,-1 0 0,1 0 0,0 0 0,-1 0 0,1-2 0,-1 2 0,1 0 0,-1 0 0,1 0 0,-1-1 0,1 1 0,-1 0 0,1-1 0,-1 1 0,1 0 0,-1-1 0,1 1 0,-1-1 0,0 1 0,1-1 0,-1 1 0,1-1 0,28-47 0,-27 44 0,54-115 0,66-208 0,-90 234 0,-27 78 0,2-6 0,16-32 0,-22 50 0,1-1 0,-1 0 0,1 1 0,0 0 0,0 0 0,1 1 0,-1-1 0,0 0 0,1 1 0,0-1 0,-1 1 0,1-1 0,0 1 0,0 0 0,0 0 0,1 1 0,3-2 0,-5 3 0,1 0 0,-1 0 0,1 0 0,-1 0 0,1 0 0,0 1 0,-1-1 0,0 1 0,1 0 0,-1 0 0,1 0 0,-1 0 0,0 0 0,0 1 0,1-1 0,-1 2 0,0-2 0,0 1 0,-1 0 0,1-1 0,0 1 0,-1 0 0,1 0 0,-1 0 0,3 4 0,3 8 0,1-2 0,-2 1 0,6 16 0,-11-27 0,25 76 0,-2 1 0,-4 0 0,13 110 0,-26-115 0,-4 128 0,-3-185 0,0-16 0,0-1 0,0 1 0,0-1 0,0 0 0,1 1 0,-1-1 0,0 1 0,0-1 0,0 1 0,0-1 0,0 0 0,0 1 0,0-1 0,0 1 0,0-1 0,0 1 0,-1-1 0,1 1 0,0-1 0,0 0 0,0 1 0,0-1 0,-1 1 0,1-1 0,0 0 0,0 1 0,-1-1 0,1 0 0,0 2 0,-1-2 0,1 0 0,0 1 0,-1-1 0,1 0 0,-1 0 0,1 0 0,0 1 0,-1-1 0,1 0 0,-1 0 0,1 0 0,-1 0 0,1 0 0,0 0 0,-1 0 0,0 0 0,-1-1 0,-1 0 0,1-1 0,0 0 0,0 1 0,0-1 0,0 0 0,1 0 0,-1 0 0,-1-2 0,-36-53 0,20 27 0,-10-15 0,3-1 0,1-2 0,-33-87 0,11 13 0,46 121 0,1 0 0,-1 0 0,1 0 0,0-1 0,-1 1 0,1 0 0,0 0 0,0 0 0,0 0 0,0 0 0,0 0 0,0 0 0,0 0 0,0-1 0,1 1 0,-1 0 0,1-1 0,-1 1 0,1 1 0,-1 0 0,1 0 0,-1-1 0,0 1 0,1 0 0,-1 0 0,1 0 0,-1 0 0,1 0 0,-1-1 0,1 1 0,-1 0 0,1 0 0,-1 0 0,1 0 0,-1 1 0,1-1 0,-1 0 0,1 0 0,-1 0 0,1 0 0,-1 0 0,0 1 0,1-1 0,0 1 0,38 26 0,-32-21 0,45 33 0,1-3 0,92 49 0,-117-73 0,1 0 0,0-1 0,0-2 0,1-2 0,0-1 0,1-1 0,49 3 0,-40-7 0,1-2 0,0-2 0,-1-3 0,1 0 0,52-16 0,50-24 0,226-107 0,-246 99 0,-48 23 0,-72 28 0,-10 4 0,-16 5 0,-643 287 0,513-219 0,-379 163 0,418-188 0,110-45 0,17-5 0,22-5 0,731-214 0,-15-52 0,-265 51 0,-460 206 0,-21 11 0,-1 0 0,1 1 0,0 0 0,1 1 0,7-4 0,-13 6 0,0 0 0,0 1 0,0-1 0,0 0 0,0 0 0,0 0 0,-1 0 0,1 0 0,0 0 0,0 1 0,0-1 0,0 0 0,0 0 0,0 0 0,0 0 0,0 1 0,0-1 0,0 0 0,0 0 0,0 0 0,0 0 0,0 1 0,0-1 0,0 0 0,0 0 0,0 0 0,0 0 0,0 1 0,0-1 0,0 0 0,0 0 0,0 0 0,1 0 0,-1 1 0,0-1 0,0 0 0,0 0 0,0 0 0,0 0 0,0 0 0,0 0 0,1 0 0,-1 1 0,0-1 0,0 0 0,0 0 0,0 0 0,1 0 0,-1 0 0,0 0 0,0 0 0,0 0 0,0 0 0,1 0 0,-1 0 0,0 0 0,0 0 0,0 0 0,0 0 0,1 0 0,-1 0 0,0 0 0,-11 14 0,-51 44 0,-113 83 0,130-107 0,-503 376 0,405-287 0,47-36 0,80-75 0,13-11 0,-1 2 0,0-1 0,1 0 0,0 1 0,0 0 0,-1 0 0,2 1 0,-1-1 0,0 0 0,1 0 0,-1 1 0,1-1 0,-3 7 0,5-10 0,0 1 0,0 0 0,0 0 0,1 1 0,-1-2 0,0 1 0,0 0 0,1-1 0,-1 1 0,0 0 0,1 0 0,-1-1 0,0 1 0,1-1 0,-1 1 0,1 0 0,-1-1 0,1 1 0,0-1 0,-1 1 0,1-1 0,0 1 0,-1-1 0,1 0 0,0 1 0,-1-1 0,1 0 0,0 0 0,-1 1 0,1-1 0,2 0 0,27 5 0,-28-5 0,42 3 0,1-2 0,0-3 0,59-8 0,133-38 0,-158 32 0,157-39 0,102-19 0,-271 61 0,101-16 0,-140 26 0,0 1 0,-1 1 0,55 7 0,-73-2 0,-11 2 0,-19 8 0,16-10 0,-375 242 0,133-83 0,190-126 0,-219 129 0,257-160 0,19-6 0,0 0 0,0 0 0,-1 0 0,1 0 0,0 0 0,0 0 0,0 0 0,-1 0 0,1 0 0,0 0 0,0 0 0,0 0 0,-1 0 0,1 0 0,0 0 0,0 0 0,0 0 0,-1 0 0,1-1 0,0 1 0,0 0 0,0 0 0,0 0 0,-1 0 0,1 0 0,0 0 0,0-1 0,0 1 0,0 0 0,0 0 0,0 0 0,-1 0 0,1-1 0,0 1 0,0 0 0,0 0 0,0 0 0,0-1 0,1-1 0,-1 0 0,1 1 0,0-1 0,0 0 0,0 0 0,0 1 0,0-1 0,1 0 0,-1 1 0,0-1 0,1 1 0,-1 0 0,1-1 0,2-2 0,275-202 0,-218 163 0,507-311 0,-379 256 0,-168 89 0,-1 2 0,2-1 0,25-4 0,-5 2 0,-34 7 0,0-2 0,-1 1 0,1 0 0,-1-1 0,0 1 0,0-2 0,7-6 0,28-20 0,-12 16 0,11-9 0,2 2 0,74-27 0,121-40 0,-227 85 0,0 1 0,0 0 0,0 1 0,0 0 0,1 1 0,-1 1 0,1-1 0,0 1 0,-1 1 0,16 1 0,-26 1 0,-1-2 0,1 0 0,0 0 0,-1 0 0,1 0 0,-1 1 0,1-1 0,-1 0 0,1 1 0,-1-1 0,1 0 0,-1 1 0,1-1 0,-1 1 0,1-1 0,-1 0 0,0 1 0,1-1 0,-1 1 0,0-1 0,1 1 0,-1-1 0,0 1 0,0 0 0,0-1 0,1 1 0,-1-1 0,0 1 0,0 0 0,0-1 0,0 1 0,0-1 0,0 1 0,0 0 0,0-1 0,0 1 0,0-1 0,-1 1 0,1-1 0,0 1 0,0 0 0,0-1 0,-1 1 0,1-1 0,0 1 0,-1-1 0,1 1 0,0-1 0,-1 1 0,1-1 0,-1 1 0,-23 30 0,-38 29 0,-88 66 0,81-70 0,47-40 0,0 0 0,-1-1 0,-36 17 0,53-29 0,0 1 0,1 0 0,-1 1 0,1 0 0,0 0 0,0 0 0,0 0 0,-7 13 0,6-10 0,6-8 0,0 0 0,-1 0 0,1 0 0,0 0 0,0 0 0,0 0 0,0 0 0,-1 1 0,1-1 0,0 0 0,0 0 0,0 0 0,0 0 0,0 1 0,-1-1 0,1 0 0,0 0 0,0 0 0,0 0 0,0 1 0,0-1 0,0 0 0,0 0 0,0 0 0,0 1 0,0-1 0,0 0 0,0 0 0,0 1 0,0-1 0,0 0 0,0 0 0,0 0 0,0 1 0,0-1 0,0 0 0,0 0 0,0 0 0,0 1 0,0-1 0,1 0 0,-1 0 0,0 0 0,0 0 0,0 1 0,0-1 0,0 0 0,1 0 0,13-1 0,25-12 0,-36 11 0,82-35 0,-1-4 0,-2-3 0,-3-4 0,-1-3 0,115-101 0,-75 35 0,-112 111 0,-1-2 0,1 1 0,-1 0 0,-1-1 0,0-1 0,0 2 0,0-2 0,-1 1 0,3-12 0,16-35 0,-14 40 0,17-27 0,-25 43 0,0-1 0,0 0 0,0 0 0,0 0 0,0 1 0,0-1 0,0 0 0,0 0 0,0 1 0,0-1 0,0 0 0,0 0 0,0 0 0,0 1 0,0-1 0,0 0 0,0 0 0,1 0 0,-1 0 0,0 1 0,0-1 0,0 0 0,0 0 0,0 0 0,1 0 0,-1 0 0,0 0 0,0 1 0,0-1 0,1 0 0,-1 0 0,0 0 0,0 0 0,0 0 0,1 0 0,-1 0 0,0 0 0,0 0 0,0 0 0,1 0 0,-1 0 0,0 0 0,0 0 0,0 0 0,1 0 0,-1 0 0,0 0 0,0 0 0,0 0 0,1 0 0,-1-1 0,0 1 0,0 0 0,0 0 0,1 0 0,-1 0 0,0 0 0,0 0 0,0-1 0,0 1 0,0 0 0,0 0 0,1-1 0,-2 20 0,-17 85 0,6-45 0,3 0 0,-2 98 0,10-127 0,0-18 0,1 0 0,0 1 0,0-2 0,5 22 0,-5-31 0,1 1 0,0-1 0,0 1 0,0 0 0,0 0 0,0-1 0,0 0 0,1 0 0,-1 0 0,1 0 0,-1 0 0,1 0 0,0 0 0,0 0 0,0 0 0,0-1 0,0 1 0,0-1 0,0 0 0,1 1 0,-1 0 0,1-1 0,-1-1 0,0 1 0,1 0 0,3 0 0,10 1 0,1 0 0,-1-1 0,1-1 0,-1-1 0,33-4 0,78-28 0,-68 15 0,19-12 0,-27 9 0,2 0 0,51-16 0,-88 32 0,0-2 0,-1 1 0,0-2 0,0 1 0,-1-3 0,25-18 0,1-1 0,-28 18 0,0 1 0,-1-1 0,0-1 0,-1 0 0,10-16 0,3-2 0,-14 16 0,0-1 0,-1 1 0,0-2 0,-1 1 0,-1 0 0,0-2 0,-1 2 0,-1-2 0,-1 1 0,0-2 0,1-20 0,-7 46 0,0-1 0,0 2 0,-1-2 0,1 0 0,-2 1 0,-4 6 0,0 0 0,0 0 0,2 0 0,-8 18 0,-1 20 0,1-2 0,3 3 0,-6 53 0,17-101 0,1 0 0,0 0 0,0 1 0,0-1 0,1 0 0,1 7 0,-2-11 0,0 0 0,1 0 0,-1 0 0,1 0 0,-1 0 0,0 0 0,1 0 0,0-1 0,-1 1 0,1 1 0,0-1 0,-1-1 0,1 1 0,0 0 0,0-1 0,-1 1 0,1 0 0,0-1 0,0 1 0,0-1 0,0 0 0,0 1 0,0-1 0,0 0 0,0 0 0,0 1 0,0-1 0,0 0 0,0 0 0,0 0 0,0 0 0,0 0 0,0 0 0,0-1 0,0 1 0,0 0 0,0 0 0,-1-1 0,3 0 0,6-2 0,0-2 0,-1 1 0,1-1 0,-1 0 0,1 0 0,-2-1 0,1-1 0,12-12 0,3-6 0,25-34 0,-30 34 0,-1-2 0,-1 0 0,-1-2 0,-1 1 0,16-48 0,-27 66 0,0 0 0,-1 0 0,0 0 0,-1 0 0,0 0 0,0 0 0,-1-1 0,0 1 0,-1 0 0,0-1 0,-4-10 0,4 16 0,-1 1 0,0-2 0,0 2 0,0-1 0,0 1 0,-1 0 0,0 0 0,0 0 0,0 1 0,0-2 0,-1 2 0,0 0 0,1-1 0,-1 2 0,0-1 0,0 0 0,-1 1 0,1 0 0,0 0 0,-1 0 0,1 0 0,-1 0 0,0 1 0,-7-2 0,-16 0 0,0 1 0,0 1 0,0 1 0,0 2 0,0 0 0,1 2 0,-1 2 0,1 1 0,0 0 0,0 2 0,1 2 0,0 0 0,1 1 0,-32 22 0,49-30 0,1 2 0,0 0 0,1-1 0,-1 1 0,1 0 0,0 1 0,0 0 0,1 0 0,0 0 0,0 0 0,-5 14 0,8-16 0,0 1 0,1 0 0,-1-1 0,1 1 0,0 0 0,1-1 0,0 1 0,0 0 0,0 0 0,0 0 0,1-1 0,0 1 0,0-1 0,0 2 0,1-2 0,0 1 0,0-1 0,5 10 0,4 4 0,1 1 0,1-2 0,1 0 0,0-1 0,1 1 0,1-3 0,31 26 0,1-5 0,87 49 0,-100-67 0,1-2 0,0-1 0,0-2 0,2-1 0,-1-3 0,42 5 0,237 13 0,-272-25 0,439 12 0,-337-19 0,191-28 0,-284 24 0,-1-1 0,0-4 0,-1-1 0,89-41 0,-135 54 0,1-1 0,-1 0 0,0 0 0,-1 0 0,1-1 0,0 1 0,-1-1 0,0-1 0,0 0 0,0 1 0,-1-1 0,1 0 0,2-6 0,-5 8 0,0 0 0,0 0 0,0 0 0,0 0 0,-1 0 0,1-1 0,-1 1 0,0 0 0,0 0 0,0-1 0,0 0 0,-1 1 0,1 0 0,-1 0 0,0 0 0,0 0 0,0 0 0,0 0 0,-1 0 0,1-1 0,-1 1 0,1 1 0,-1-1 0,0 0 0,-4-2 0,0-3 0,-1 1 0,0 0 0,-1 1 0,0 0 0,0 0 0,0 1 0,0-1 0,-1 2 0,0 0 0,0 0 0,0 1 0,0 0 0,-1 1 0,1 0 0,-1 0 0,1 1 0,-18-1 0,12 2 0,0 1 0,0 0 0,1 1 0,-1 1 0,1 0 0,0 1 0,-1 0 0,2 1 0,-1 1 0,1 1 0,-16 9 0,10-3 0,0 0 0,1 1 0,-26 29 0,38-38 0,1 0 0,0 1 0,1 0 0,0 1 0,0-1 0,0 0 0,1 1 0,-1 0 0,1 1 0,1-1 0,0 0 0,0 0 0,0 0 0,1 1 0,-1 9 0,2-15 0,0-1 0,0 1 0,0 0 0,0-1 0,0 2 0,0-1 0,0-1 0,1 1 0,-1 0 0,1-1 0,-1 1 0,1-1 0,0 1 0,0-1 0,-1 1 0,1-1 0,0 1 0,0-1 0,0 0 0,1 0 0,-1 1 0,0-1 0,0 0 0,1 0 0,-1 0 0,1 0 0,-1-1 0,1 1 0,-1 0 0,1 1 0,-1-2 0,1 1 0,-1-1 0,4 1 0,-2-1 0,0 0 0,0 0 0,0 0 0,0-1 0,1 1 0,-1-1 0,0-1 0,0 1 0,0 0 0,0 0 0,0 0 0,0-1 0,-1 1 0,1-1 0,0 0 0,-1 1 0,4-5 0,-1 1 0,-1 0 0,1-2 0,-2 2 0,1-1 0,-1 0 0,1 0 0,-2 0 0,1-1 0,-1 0 0,0 1 0,0-1 0,1-8 0,-1 0 0,0-1 0,-1 1 0,-1-1 0,-2-22 0,1 34 0,0 0 0,1 1 0,-1-1 0,0 1 0,-1-1 0,1 0 0,0 1 0,-1-1 0,0 1 0,0 0 0,0 0 0,0 0 0,0 0 0,-1 1 0,-4-6 0,1 3 0,0 1 0,0 0 0,-1 0 0,1 1 0,-1 0 0,0 0 0,-9-4 0,-9 1 0,0 1 0,0 2 0,-38-2 0,-5 2 0,-85 9 0,127 2 0,20-2 0,16 0 0,-5-6 0,0 0 0,-1-1 0,1 1 0,0-2 0,-1 1 0,1 0 0,0 0 0,-1-1 0,0 1 0,1-1 0,-1 0 0,0-1 0,0 1 0,0-1 0,0 0 0,0 1 0,3-5 0,6-6 0,-2 1 0,0-1 0,14-21 0,-16 23 0,-2 0 0,1-2 0,-2 1 0,1 0 0,-2-1 0,0 0 0,0-1 0,5-26 0,-10 38 0,0 0 0,0 0 0,0 0 0,0 1 0,-1-1 0,1 0 0,-1 0 0,1 0 0,-1 1 0,0-1 0,1-1 0,-1 2 0,0-1 0,0 0 0,0 1 0,0-1 0,-1 1 0,1 0 0,0-1 0,0 1 0,-1 0 0,1 0 0,-1 0 0,1 0 0,-1 0 0,0 0 0,1 0 0,-1 0 0,0 1 0,0-1 0,0 1 0,1-1 0,-3 1 0,-8-3 0,0 2 0,0 0 0,0 0 0,-13 1 0,12 1 0,-4-1 0,1 1 0,-1 1 0,1 0 0,0 2 0,-28 8 0,12 2 0,-53 28 0,47-22 0,21-12 0,-1 1 0,1 0 0,1 3 0,-23 17 0,36-27 0,-1 1 0,1 0 0,0 0 0,1 1 0,-1-1 0,0 1 0,1-1 0,0 1 0,0 1 0,0-1 0,0 0 0,1 0 0,0 0 0,-1 0 0,1 0 0,1 0 0,-1 2 0,1-2 0,-1 0 0,1 0 0,0 1 0,1-1 0,-1 0 0,1 2 0,2 5 0,-2-8 0,1 0 0,0 1 0,-1-1 0,1 0 0,1 1 0,-1-1 0,0 0 0,1 0 0,0 0 0,-1-1 0,1 1 0,0-1 0,1 0 0,-1 0 0,0 0 0,0 0 0,1 0 0,-1-1 0,1 0 0,0 2 0,-1-2 0,1-1 0,0 1 0,5 0 0,7 1 0,0-1 0,-1-1 0,1 0 0,24-3 0,-27 1 0,1-2 0,-1 1 0,0-1 0,0 0 0,0-1 0,-1 0 0,0-1 0,0-1 0,22-15 0,-34 22 0,0-1 0,1 1 0,-1 0 0,0 0 0,0 0 0,0-1 0,1 1 0,-1 0 0,0 0 0,0 0 0,0-1 0,1 1 0,-1 0 0,0-1 0,0 1 0,0 0 0,0 0 0,0-1 0,0 1 0,0 0 0,0-1 0,0 1 0,0 0 0,0 0 0,0-1 0,0 1 0,0 0 0,0-1 0,0 1 0,0 0 0,0 0 0,0-2 0,0 2 0,0 0 0,0-1 0,-1 1 0,1 0 0,0 0 0,0-1 0,0 1 0,0 0 0,-1-1 0,-16-5 0,-23 2 0,39 4 0,-22-2 0,-1 2 0,1 1 0,-1 1 0,0 0 0,1 2 0,0 1 0,0 2 0,-38 14 0,5 3 0,41-19 0,1 0 0,-1 2 0,1 0 0,0 1 0,1-1 0,0 2 0,0 1 0,-17 16 0,14-8 0,9-11 0,0 1 0,0 0 0,1 0 0,-8 16 0,12-20 0,0 0 0,1 0 0,0 0 0,0 0 0,0 1 0,0-1 0,0 0 0,1 0 0,0 0 0,0 1 0,0-1 0,1 0 0,-1 1 0,3 7 0,-2-9 0,-1 0 0,1 0 0,0 0 0,1 0 0,-1 1 0,0-1 0,1 0 0,0 0 0,-1-1 0,1 1 0,0-1 0,1 0 0,-1 1 0,0-1 0,0 0 0,1 0 0,0 0 0,4 3 0,-3-3 0,1-1 0,0 1 0,-1-1 0,1 0 0,0 0 0,0 0 0,0-1 0,0 0 0,0 0 0,9-1 0,2-2 0,0 0 0,0-3 0,0 1 0,-1 0 0,1-2 0,17-10 0,-10 3 0,-1 0 0,0-3 0,0 1 0,-2-2 0,0-1 0,25-30 0,-22 18 0,-1-1 0,-1 0 0,-1-2 0,14-36 0,-23 47 0,-1 1 0,-1-2 0,-1 0 0,7-40 0,-14 58 0,0 1 0,0-1 0,0 0 0,-1 1 0,0-1 0,0 1 0,-1-1 0,1 1 0,-1-2 0,0 2 0,-1 0 0,1 0 0,-1-1 0,0 1 0,-1-1 0,1 1 0,-1 1 0,0-1 0,0 1 0,0-1 0,-1 1 0,1-1 0,-1 1 0,0 0 0,0 1 0,-9-6 0,1 2 0,-2 0 0,1 1 0,0 1 0,-1 1 0,0 0 0,0 0 0,0 2 0,-22-2 0,-14 1 0,-56 6 0,31 0 0,52-1 0,1 0 0,1 1 0,-1 1 0,0 2 0,1 0 0,0 2 0,1 0 0,-1 1 0,1 0 0,1 3 0,0-1 0,1 1 0,0 2 0,0 0 0,2 2 0,-22 23 0,32-32 0,1 0 0,0 1 0,0-1 0,1 1 0,0 0 0,0 1 0,0-1 0,1 1 0,1-1 0,-1 2 0,2-2 0,-2 11 0,2-13 0,1-2 0,0 1 0,0 0 0,0 0 0,1 0 0,0 0 0,0 0 0,0 0 0,0-1 0,1 1 0,0-1 0,0 0 0,0 2 0,0-2 0,1 0 0,-1 0 0,1 0 0,0-1 0,1 1 0,-1-1 0,0 1 0,1 0 0,7 4 0,0-2 0,0-1 0,1 1 0,0-2 0,0 1 0,1-1 0,-1-1 0,1 0 0,0-1 0,-1-1 0,1 0 0,0-1 0,17-1 0,11-3 0,-1-2 0,62-17 0,-69 13 0,-1-1 0,0-1 0,-1-2 0,0-1 0,-1-1 0,0-3 0,-2 0 0,0-1 0,-1-2 0,44-46 0,-44 39 0,-11 14 0,-1-2 0,-1 0 0,0-1 0,21-35 0,-34 51 0,0-1 0,0 1 0,0 1 0,-1-1 0,1 0 0,0 0 0,-1 0 0,0 0 0,1 0 0,-1 0 0,0 0 0,0 0 0,0 0 0,0-1 0,-1 1 0,1 0 0,-1-1 0,1 1 0,-1 1 0,1-1 0,-2-3 0,0 2 0,0 0 0,-1 0 0,1 1 0,-1-1 0,1 0 0,-1 1 0,0-1 0,0 0 0,0 1 0,0 0 0,-4-1 0,-4-3 0,-1 1 0,-1 1 0,1 0 0,-1-1 0,-22-1 0,-18 1 0,-1 3 0,1 1 0,-1 4 0,1 1 0,0 3 0,0 3 0,-94 30 0,69-12 0,1 4 0,1 3 0,2 3 0,-93 65 0,112-62 0,-49 48 0,64-54 0,24-20-455,-2-2 0,-28 17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04C913D-4570-E851-5FD1-69CD3E1739A5}"/>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558124C-3B08-8C66-F309-E2BF929D436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B91E6EEF-7AFA-86B4-93A0-89B909F4DC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55891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2B42FEE-511B-D403-F5B6-E24AF2ABFD1E}"/>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7ED190C-AC45-170D-56DB-795BF3C341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179D79B8-7AB4-A5DF-2312-0A993A7C7C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405028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13</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2400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76542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png"/><Relationship Id="rId7" Type="http://schemas.openxmlformats.org/officeDocument/2006/relationships/customXml" Target="../ink/ink3.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3.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2" Type="http://schemas.openxmlformats.org/officeDocument/2006/relationships/hyperlink" Target="https://www.linkedin.com/in/kuchani-vamshi-14b356296/"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grpSp>
        <p:nvGrpSpPr>
          <p:cNvPr id="6" name="Group 5">
            <a:extLst>
              <a:ext uri="{FF2B5EF4-FFF2-40B4-BE49-F238E27FC236}">
                <a16:creationId xmlns:a16="http://schemas.microsoft.com/office/drawing/2014/main" id="{6DCB0043-8C96-8ECB-A574-359AA1A8209E}"/>
              </a:ext>
            </a:extLst>
          </p:cNvPr>
          <p:cNvGrpSpPr/>
          <p:nvPr/>
        </p:nvGrpSpPr>
        <p:grpSpPr>
          <a:xfrm>
            <a:off x="4796633" y="3006571"/>
            <a:ext cx="2700360" cy="584774"/>
            <a:chOff x="4796633" y="3024345"/>
            <a:chExt cx="2700360" cy="567000"/>
          </a:xfrm>
        </p:grpSpPr>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AB434BE-D712-1007-AC5F-28967707EBEC}"/>
                    </a:ext>
                  </a:extLst>
                </p14:cNvPr>
                <p14:cNvContentPartPr/>
                <p14:nvPr/>
              </p14:nvContentPartPr>
              <p14:xfrm>
                <a:off x="4958633" y="3148185"/>
                <a:ext cx="360" cy="360"/>
              </p14:xfrm>
            </p:contentPart>
          </mc:Choice>
          <mc:Fallback xmlns="">
            <p:pic>
              <p:nvPicPr>
                <p:cNvPr id="2" name="Ink 1">
                  <a:extLst>
                    <a:ext uri="{FF2B5EF4-FFF2-40B4-BE49-F238E27FC236}">
                      <a16:creationId xmlns:a16="http://schemas.microsoft.com/office/drawing/2014/main" id="{7AB434BE-D712-1007-AC5F-28967707EBEC}"/>
                    </a:ext>
                  </a:extLst>
                </p:cNvPr>
                <p:cNvPicPr/>
                <p:nvPr/>
              </p:nvPicPr>
              <p:blipFill>
                <a:blip r:embed="rId5"/>
                <a:stretch>
                  <a:fillRect/>
                </a:stretch>
              </p:blipFill>
              <p:spPr>
                <a:xfrm>
                  <a:off x="4895633" y="308554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E36A3B3A-8156-A00D-1860-2CDD6E2F6E7C}"/>
                    </a:ext>
                  </a:extLst>
                </p14:cNvPr>
                <p14:cNvContentPartPr/>
                <p14:nvPr/>
              </p14:nvContentPartPr>
              <p14:xfrm>
                <a:off x="4958633" y="3148185"/>
                <a:ext cx="360" cy="360"/>
              </p14:xfrm>
            </p:contentPart>
          </mc:Choice>
          <mc:Fallback xmlns="">
            <p:pic>
              <p:nvPicPr>
                <p:cNvPr id="3" name="Ink 2">
                  <a:extLst>
                    <a:ext uri="{FF2B5EF4-FFF2-40B4-BE49-F238E27FC236}">
                      <a16:creationId xmlns:a16="http://schemas.microsoft.com/office/drawing/2014/main" id="{E36A3B3A-8156-A00D-1860-2CDD6E2F6E7C}"/>
                    </a:ext>
                  </a:extLst>
                </p:cNvPr>
                <p:cNvPicPr/>
                <p:nvPr/>
              </p:nvPicPr>
              <p:blipFill>
                <a:blip r:embed="rId5"/>
                <a:stretch>
                  <a:fillRect/>
                </a:stretch>
              </p:blipFill>
              <p:spPr>
                <a:xfrm>
                  <a:off x="4895633" y="3085545"/>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227246F8-23E2-6795-D601-2431DC3F8CEB}"/>
                    </a:ext>
                  </a:extLst>
                </p14:cNvPr>
                <p14:cNvContentPartPr/>
                <p14:nvPr/>
              </p14:nvContentPartPr>
              <p14:xfrm>
                <a:off x="4796633" y="3024345"/>
                <a:ext cx="2700360" cy="567000"/>
              </p14:xfrm>
            </p:contentPart>
          </mc:Choice>
          <mc:Fallback xmlns="">
            <p:pic>
              <p:nvPicPr>
                <p:cNvPr id="5" name="Ink 4">
                  <a:extLst>
                    <a:ext uri="{FF2B5EF4-FFF2-40B4-BE49-F238E27FC236}">
                      <a16:creationId xmlns:a16="http://schemas.microsoft.com/office/drawing/2014/main" id="{227246F8-23E2-6795-D601-2431DC3F8CEB}"/>
                    </a:ext>
                  </a:extLst>
                </p:cNvPr>
                <p:cNvPicPr/>
                <p:nvPr/>
              </p:nvPicPr>
              <p:blipFill>
                <a:blip r:embed="rId8"/>
                <a:stretch>
                  <a:fillRect/>
                </a:stretch>
              </p:blipFill>
              <p:spPr>
                <a:xfrm>
                  <a:off x="4733633" y="2961345"/>
                  <a:ext cx="2826000" cy="692640"/>
                </a:xfrm>
                <a:prstGeom prst="rect">
                  <a:avLst/>
                </a:prstGeom>
              </p:spPr>
            </p:pic>
          </mc:Fallback>
        </mc:AlternateContent>
      </p:grpSp>
      <p:sp>
        <p:nvSpPr>
          <p:cNvPr id="13" name="TextBox 12">
            <a:extLst>
              <a:ext uri="{FF2B5EF4-FFF2-40B4-BE49-F238E27FC236}">
                <a16:creationId xmlns:a16="http://schemas.microsoft.com/office/drawing/2014/main" id="{7E5E0A19-81B0-9DAC-083F-214E1F0ACC06}"/>
              </a:ext>
            </a:extLst>
          </p:cNvPr>
          <p:cNvSpPr txBox="1"/>
          <p:nvPr/>
        </p:nvSpPr>
        <p:spPr>
          <a:xfrm>
            <a:off x="3342969" y="2615381"/>
            <a:ext cx="5422880" cy="584775"/>
          </a:xfrm>
          <a:prstGeom prst="rect">
            <a:avLst/>
          </a:prstGeom>
          <a:noFill/>
        </p:spPr>
        <p:txBody>
          <a:bodyPr wrap="square" rtlCol="0">
            <a:spAutoFit/>
          </a:bodyPr>
          <a:lstStyle/>
          <a:p>
            <a:pPr algn="ctr"/>
            <a:r>
              <a:rPr lang="en-US" sz="3200" b="1" dirty="0">
                <a:solidFill>
                  <a:srgbClr val="FF0000"/>
                </a:solidFill>
                <a:latin typeface="Arial Black" panose="020B0A04020102020204" pitchFamily="34" charset="0"/>
              </a:rPr>
              <a:t>PROJECT ON</a:t>
            </a:r>
            <a:endParaRPr lang="en-IN" sz="3200" b="1" dirty="0">
              <a:solidFill>
                <a:srgbClr val="FF0000"/>
              </a:solidFill>
              <a:latin typeface="Arial Black" panose="020B0A04020102020204" pitchFamily="34" charset="0"/>
            </a:endParaRPr>
          </a:p>
        </p:txBody>
      </p:sp>
      <p:sp>
        <p:nvSpPr>
          <p:cNvPr id="4" name="TextBox 3">
            <a:extLst>
              <a:ext uri="{FF2B5EF4-FFF2-40B4-BE49-F238E27FC236}">
                <a16:creationId xmlns:a16="http://schemas.microsoft.com/office/drawing/2014/main" id="{B78AC216-9E27-F194-C5EA-EDC664DF0303}"/>
              </a:ext>
            </a:extLst>
          </p:cNvPr>
          <p:cNvSpPr txBox="1"/>
          <p:nvPr/>
        </p:nvSpPr>
        <p:spPr>
          <a:xfrm>
            <a:off x="7496993" y="4621161"/>
            <a:ext cx="4053875" cy="1323439"/>
          </a:xfrm>
          <a:prstGeom prst="rect">
            <a:avLst/>
          </a:prstGeom>
          <a:noFill/>
        </p:spPr>
        <p:txBody>
          <a:bodyPr wrap="square" rtlCol="0">
            <a:spAutoFit/>
          </a:bodyPr>
          <a:lstStyle/>
          <a:p>
            <a:r>
              <a:rPr lang="en-US" sz="2000" dirty="0">
                <a:solidFill>
                  <a:srgbClr val="FF0000"/>
                </a:solidFill>
                <a:latin typeface="Arial Black" panose="020B0A04020102020204" pitchFamily="34" charset="0"/>
              </a:rPr>
              <a:t>Presented By:</a:t>
            </a:r>
          </a:p>
          <a:p>
            <a:r>
              <a:rPr lang="en-US" sz="2000" dirty="0">
                <a:solidFill>
                  <a:schemeClr val="tx1"/>
                </a:solidFill>
                <a:latin typeface="Arial Black" panose="020B0A04020102020204" pitchFamily="34" charset="0"/>
              </a:rPr>
              <a:t>Name   : KUCHANI VAMSHI</a:t>
            </a:r>
          </a:p>
          <a:p>
            <a:r>
              <a:rPr lang="en-US" sz="2000" dirty="0">
                <a:solidFill>
                  <a:schemeClr val="tx1"/>
                </a:solidFill>
                <a:latin typeface="Arial Black" panose="020B0A04020102020204" pitchFamily="34" charset="0"/>
              </a:rPr>
              <a:t>Batch   : 456</a:t>
            </a:r>
          </a:p>
          <a:p>
            <a:r>
              <a:rPr lang="en-US" sz="2000" dirty="0">
                <a:solidFill>
                  <a:schemeClr val="tx1"/>
                </a:solidFill>
                <a:latin typeface="Arial Black" panose="020B0A04020102020204" pitchFamily="34" charset="0"/>
              </a:rPr>
              <a:t>Branch : DILSUKHNAGAR</a:t>
            </a:r>
            <a:endParaRPr lang="en-IN" sz="2000" dirty="0">
              <a:solidFill>
                <a:schemeClr val="tx1"/>
              </a:solidFill>
              <a:latin typeface="Arial Black" panose="020B0A04020102020204" pitchFamily="34" charset="0"/>
            </a:endParaRPr>
          </a:p>
        </p:txBody>
      </p:sp>
      <p:sp>
        <p:nvSpPr>
          <p:cNvPr id="10" name="TextBox 9">
            <a:extLst>
              <a:ext uri="{FF2B5EF4-FFF2-40B4-BE49-F238E27FC236}">
                <a16:creationId xmlns:a16="http://schemas.microsoft.com/office/drawing/2014/main" id="{E4D80134-6324-32C1-ABE5-2BC0E1E3C13F}"/>
              </a:ext>
            </a:extLst>
          </p:cNvPr>
          <p:cNvSpPr txBox="1"/>
          <p:nvPr/>
        </p:nvSpPr>
        <p:spPr>
          <a:xfrm>
            <a:off x="1093077" y="3591345"/>
            <a:ext cx="10457792" cy="584775"/>
          </a:xfrm>
          <a:prstGeom prst="rect">
            <a:avLst/>
          </a:prstGeom>
          <a:noFill/>
        </p:spPr>
        <p:txBody>
          <a:bodyPr wrap="square" rtlCol="0">
            <a:spAutoFit/>
          </a:bodyPr>
          <a:lstStyle/>
          <a:p>
            <a:pPr algn="ctr"/>
            <a:r>
              <a:rPr lang="en-US" sz="3200" dirty="0"/>
              <a:t>Smartphones Analysis Based on Features and Brand </a:t>
            </a:r>
            <a:endParaRPr lang="en-IN" sz="32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F4B760-3066-317E-2E28-E0E397BF4E61}"/>
              </a:ext>
            </a:extLst>
          </p:cNvPr>
          <p:cNvSpPr txBox="1"/>
          <p:nvPr/>
        </p:nvSpPr>
        <p:spPr>
          <a:xfrm>
            <a:off x="816077" y="353961"/>
            <a:ext cx="10825317" cy="3970318"/>
          </a:xfrm>
          <a:prstGeom prst="rect">
            <a:avLst/>
          </a:prstGeom>
          <a:noFill/>
        </p:spPr>
        <p:txBody>
          <a:bodyPr wrap="square" rtlCol="0">
            <a:spAutoFit/>
          </a:bodyPr>
          <a:lstStyle/>
          <a:p>
            <a:r>
              <a:rPr lang="en-US" sz="3600" b="1" dirty="0">
                <a:solidFill>
                  <a:srgbClr val="FF0000"/>
                </a:solidFill>
                <a:latin typeface="Calibri" panose="020F0502020204030204" pitchFamily="34" charset="0"/>
                <a:ea typeface="Calibri" panose="020F0502020204030204" pitchFamily="34" charset="0"/>
                <a:cs typeface="Calibri" panose="020F0502020204030204" pitchFamily="34" charset="0"/>
              </a:rPr>
              <a:t>About Me</a:t>
            </a:r>
          </a:p>
          <a:p>
            <a:endPar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285750" lvl="0" indent="-323850">
              <a:buClr>
                <a:schemeClr val="dk1"/>
              </a:buClr>
              <a:buSzPts val="2400"/>
              <a:buFont typeface="Arial"/>
              <a:buChar char="•"/>
            </a:pPr>
            <a:r>
              <a:rPr lang="en-US" sz="2400" b="1" dirty="0">
                <a:solidFill>
                  <a:schemeClr val="dk1"/>
                </a:solidFill>
                <a:latin typeface="Calibri"/>
                <a:ea typeface="Calibri"/>
                <a:cs typeface="Calibri"/>
                <a:sym typeface="Calibri"/>
              </a:rPr>
              <a:t>My Name is Vamshi. </a:t>
            </a:r>
          </a:p>
          <a:p>
            <a:pPr lvl="0">
              <a:buClr>
                <a:schemeClr val="dk1"/>
              </a:buClr>
              <a:buSzPts val="2400"/>
            </a:pPr>
            <a:endParaRPr lang="en-US" sz="2400" b="1" dirty="0">
              <a:solidFill>
                <a:schemeClr val="dk1"/>
              </a:solidFill>
              <a:latin typeface="Calibri"/>
              <a:ea typeface="Calibri"/>
              <a:cs typeface="Calibri"/>
              <a:sym typeface="Calibri"/>
            </a:endParaRPr>
          </a:p>
          <a:p>
            <a:pPr marL="285750" lvl="0" indent="-323850">
              <a:buClr>
                <a:schemeClr val="dk1"/>
              </a:buClr>
              <a:buSzPts val="2400"/>
              <a:buFont typeface="Arial"/>
              <a:buChar char="•"/>
            </a:pPr>
            <a:r>
              <a:rPr lang="en-US" sz="2400" b="1" dirty="0">
                <a:latin typeface="Calibri" panose="020F0502020204030204" pitchFamily="34" charset="0"/>
                <a:ea typeface="Calibri" panose="020F0502020204030204" pitchFamily="34" charset="0"/>
                <a:cs typeface="Calibri" panose="020F0502020204030204" pitchFamily="34" charset="0"/>
              </a:rPr>
              <a:t>I have completed my Bachelor of Technology in Computer Science and Engineering.</a:t>
            </a:r>
          </a:p>
          <a:p>
            <a:pPr lvl="0">
              <a:buClr>
                <a:schemeClr val="dk1"/>
              </a:buClr>
              <a:buSzPts val="2400"/>
            </a:pPr>
            <a:endParaRPr lang="en-US" sz="2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85750" lvl="0" indent="-323850">
              <a:buClr>
                <a:schemeClr val="dk1"/>
              </a:buClr>
              <a:buSzPts val="2400"/>
              <a:buFont typeface="Arial"/>
              <a:buChar char="•"/>
            </a:pPr>
            <a:r>
              <a:rPr lang="en-US" sz="2400" b="1" dirty="0">
                <a:solidFill>
                  <a:schemeClr val="dk1"/>
                </a:solidFill>
                <a:latin typeface="Calibri"/>
                <a:ea typeface="Calibri"/>
                <a:cs typeface="Calibri"/>
                <a:sym typeface="Calibri"/>
              </a:rPr>
              <a:t>Linked In : </a:t>
            </a:r>
            <a:r>
              <a:rPr lang="en-US" sz="2400" dirty="0">
                <a:solidFill>
                  <a:schemeClr val="dk1"/>
                </a:solidFill>
                <a:latin typeface="Calibri"/>
                <a:ea typeface="Calibri"/>
                <a:cs typeface="Calibri"/>
                <a:sym typeface="Calibri"/>
                <a:hlinkClick r:id="rId2"/>
              </a:rPr>
              <a:t>https://www.linkedin.com/in/kuchani-vamshi-14b356296/</a:t>
            </a:r>
            <a:endParaRPr lang="en-US" sz="2400" dirty="0">
              <a:solidFill>
                <a:schemeClr val="dk1"/>
              </a:solidFill>
              <a:latin typeface="Calibri"/>
              <a:ea typeface="Calibri"/>
              <a:cs typeface="Calibri"/>
              <a:sym typeface="Calibri"/>
            </a:endParaRPr>
          </a:p>
          <a:p>
            <a:pPr lvl="0">
              <a:buClr>
                <a:schemeClr val="dk1"/>
              </a:buClr>
              <a:buSzPts val="2400"/>
            </a:pPr>
            <a:endParaRPr lang="en-US" sz="2400" dirty="0">
              <a:solidFill>
                <a:schemeClr val="dk1"/>
              </a:solidFill>
              <a:latin typeface="Calibri"/>
              <a:ea typeface="Calibri"/>
              <a:cs typeface="Calibri"/>
              <a:sym typeface="Calibri"/>
            </a:endParaRPr>
          </a:p>
          <a:p>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 </a:t>
            </a:r>
            <a:endPar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5834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Introduction</a:t>
            </a:r>
          </a:p>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Business Problem</a:t>
            </a:r>
          </a:p>
          <a:p>
            <a:pPr marL="368300">
              <a:buSzPts val="2400"/>
            </a:pPr>
            <a:r>
              <a:rPr lang="en-IN" sz="2400" b="1" dirty="0">
                <a:latin typeface="Calibri" panose="020F0502020204030204" pitchFamily="34" charset="0"/>
                <a:ea typeface="Calibri" panose="020F0502020204030204" pitchFamily="34" charset="0"/>
                <a:cs typeface="Calibri" panose="020F0502020204030204" pitchFamily="34" charset="0"/>
              </a:rPr>
              <a:t>Web Scrapping Details</a:t>
            </a:r>
          </a:p>
          <a:p>
            <a:pPr marL="368300">
              <a:buSzPts val="2400"/>
            </a:pPr>
            <a:r>
              <a:rPr lang="en-US" sz="2400" b="1" dirty="0">
                <a:solidFill>
                  <a:schemeClr val="tx1"/>
                </a:solidFill>
              </a:rPr>
              <a:t>Simple Description of Column in Dataset</a:t>
            </a:r>
          </a:p>
          <a:p>
            <a:pPr marL="368300">
              <a:buSzPts val="2400"/>
            </a:pPr>
            <a:r>
              <a:rPr lang="en-IN" sz="2400" b="1" spc="-10" dirty="0">
                <a:solidFill>
                  <a:schemeClr val="tx1"/>
                </a:solidFill>
                <a:latin typeface="Calibri" panose="020F0502020204030204" pitchFamily="34" charset="0"/>
                <a:ea typeface="Calibri" panose="020F0502020204030204" pitchFamily="34" charset="0"/>
                <a:cs typeface="Calibri" panose="020F0502020204030204" pitchFamily="34" charset="0"/>
              </a:rPr>
              <a:t>Data Cleaning &amp; Manipulation </a:t>
            </a:r>
          </a:p>
          <a:p>
            <a:pPr marL="368300">
              <a:buSzPts val="2400"/>
            </a:pPr>
            <a:r>
              <a:rPr lang="en-IN" sz="2400" b="1" spc="-10" dirty="0">
                <a:solidFill>
                  <a:schemeClr val="tx1"/>
                </a:solidFill>
                <a:latin typeface="Calibri" panose="020F0502020204030204" pitchFamily="34" charset="0"/>
                <a:ea typeface="Calibri" panose="020F0502020204030204" pitchFamily="34" charset="0"/>
                <a:cs typeface="Calibri" panose="020F0502020204030204" pitchFamily="34" charset="0"/>
              </a:rPr>
              <a:t>Univariate Analysis</a:t>
            </a:r>
          </a:p>
          <a:p>
            <a:pPr marL="368300">
              <a:buSzPts val="2400"/>
            </a:pPr>
            <a:r>
              <a:rPr lang="en-IN" sz="2400" b="1" spc="-10" dirty="0">
                <a:solidFill>
                  <a:schemeClr val="tx1"/>
                </a:solidFill>
                <a:latin typeface="Calibri" panose="020F0502020204030204" pitchFamily="34" charset="0"/>
                <a:ea typeface="Calibri" panose="020F0502020204030204" pitchFamily="34" charset="0"/>
                <a:cs typeface="Calibri" panose="020F0502020204030204" pitchFamily="34" charset="0"/>
              </a:rPr>
              <a:t>Bivariate Analysis</a:t>
            </a:r>
          </a:p>
          <a:p>
            <a:pPr marL="368300">
              <a:buSzPts val="2400"/>
            </a:pPr>
            <a:r>
              <a:rPr lang="en-IN" sz="2400" b="1" spc="-10" dirty="0">
                <a:solidFill>
                  <a:schemeClr val="tx1"/>
                </a:solidFill>
                <a:latin typeface="Calibri" panose="020F0502020204030204" pitchFamily="34" charset="0"/>
                <a:ea typeface="Calibri" panose="020F0502020204030204" pitchFamily="34" charset="0"/>
                <a:cs typeface="Calibri" panose="020F0502020204030204" pitchFamily="34" charset="0"/>
              </a:rPr>
              <a:t>Hypothesis Testing</a:t>
            </a:r>
          </a:p>
          <a:p>
            <a:pPr marL="368300">
              <a:buSzPts val="2400"/>
            </a:pPr>
            <a:r>
              <a:rPr lang="en-IN" sz="2400" b="1" spc="-10" dirty="0">
                <a:solidFill>
                  <a:schemeClr val="tx1"/>
                </a:solidFill>
                <a:latin typeface="Calibri" panose="020F0502020204030204" pitchFamily="34" charset="0"/>
                <a:ea typeface="Calibri" panose="020F0502020204030204" pitchFamily="34" charset="0"/>
                <a:cs typeface="Calibri" panose="020F0502020204030204" pitchFamily="34" charset="0"/>
              </a:rPr>
              <a:t>Recommendations</a:t>
            </a:r>
          </a:p>
          <a:p>
            <a:pPr marL="368300">
              <a:buSzPts val="2400"/>
            </a:pPr>
            <a:r>
              <a:rPr lang="en-IN" sz="2400" b="1" spc="-10" dirty="0">
                <a:solidFill>
                  <a:schemeClr val="tx1"/>
                </a:solidFill>
                <a:latin typeface="Calibri" panose="020F0502020204030204" pitchFamily="34" charset="0"/>
                <a:ea typeface="Calibri" panose="020F0502020204030204" pitchFamily="34" charset="0"/>
                <a:cs typeface="Calibri" panose="020F0502020204030204" pitchFamily="34" charset="0"/>
              </a:rPr>
              <a:t>Conclusion</a:t>
            </a:r>
          </a:p>
          <a:p>
            <a:pPr marL="368300">
              <a:buSzPts val="2400"/>
            </a:pPr>
            <a:endParaRPr lang="en-IN" sz="2400" b="1" spc="-1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368300">
              <a:buSzPts val="2400"/>
            </a:pPr>
            <a:endPar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368300">
              <a:buSzPts val="2400"/>
            </a:pPr>
            <a:endParaRPr lang="en-IN" sz="2000" b="1" dirty="0">
              <a:latin typeface="Calibri" panose="020F0502020204030204" pitchFamily="34" charset="0"/>
              <a:ea typeface="Calibri" panose="020F0502020204030204" pitchFamily="34" charset="0"/>
              <a:cs typeface="Calibri" panose="020F0502020204030204" pitchFamily="34" charset="0"/>
            </a:endParaRPr>
          </a:p>
          <a:p>
            <a:pPr marL="825500" lvl="1">
              <a:buSzPts val="2400"/>
            </a:pP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B9DBA81-3C1A-92B0-8690-D90F22842FDA}"/>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1FAED633-9A57-D809-C3AC-5021CCC8282B}"/>
              </a:ext>
            </a:extLst>
          </p:cNvPr>
          <p:cNvSpPr txBox="1">
            <a:spLocks noGrp="1"/>
          </p:cNvSpPr>
          <p:nvPr>
            <p:ph type="title"/>
          </p:nvPr>
        </p:nvSpPr>
        <p:spPr>
          <a:xfrm>
            <a:off x="684880" y="18255"/>
            <a:ext cx="10515600" cy="116009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FF0000"/>
                </a:solidFill>
                <a:latin typeface="Arial Black" panose="020B0A04020102020204" pitchFamily="34" charset="0"/>
                <a:ea typeface="Calibri" panose="020F0502020204030204" pitchFamily="34" charset="0"/>
                <a:cs typeface="Calibri" panose="020F0502020204030204" pitchFamily="34" charset="0"/>
              </a:rPr>
              <a:t>  </a:t>
            </a:r>
            <a:r>
              <a:rPr lang="en-IN" sz="4000" b="1" dirty="0">
                <a:solidFill>
                  <a:srgbClr val="FF0000"/>
                </a:solidFill>
                <a:latin typeface="Arial Black" panose="020B0A04020102020204" pitchFamily="34" charset="0"/>
                <a:ea typeface="Calibri" panose="020F0502020204030204" pitchFamily="34" charset="0"/>
                <a:cs typeface="Calibri" panose="020F0502020204030204" pitchFamily="34" charset="0"/>
              </a:rPr>
              <a:t>Introduction</a:t>
            </a:r>
            <a:endParaRPr sz="4000" b="1" dirty="0">
              <a:solidFill>
                <a:srgbClr val="FF0000"/>
              </a:solidFill>
              <a:latin typeface="Arial Black" panose="020B0A04020102020204" pitchFamily="34" charset="0"/>
              <a:ea typeface="Calibri" panose="020F0502020204030204" pitchFamily="34" charset="0"/>
              <a:cs typeface="Calibri" panose="020F0502020204030204" pitchFamily="34" charset="0"/>
            </a:endParaRPr>
          </a:p>
        </p:txBody>
      </p:sp>
      <p:sp>
        <p:nvSpPr>
          <p:cNvPr id="111" name="Google Shape;111;p4">
            <a:extLst>
              <a:ext uri="{FF2B5EF4-FFF2-40B4-BE49-F238E27FC236}">
                <a16:creationId xmlns:a16="http://schemas.microsoft.com/office/drawing/2014/main" id="{316D2708-3E17-B327-8535-8C9E01F53611}"/>
              </a:ext>
            </a:extLst>
          </p:cNvPr>
          <p:cNvSpPr txBox="1">
            <a:spLocks noGrp="1"/>
          </p:cNvSpPr>
          <p:nvPr>
            <p:ph type="body" idx="1"/>
          </p:nvPr>
        </p:nvSpPr>
        <p:spPr>
          <a:xfrm>
            <a:off x="684880" y="1344706"/>
            <a:ext cx="10515600" cy="4925661"/>
          </a:xfrm>
          <a:prstGeom prst="rect">
            <a:avLst/>
          </a:prstGeom>
          <a:noFill/>
          <a:ln>
            <a:noFill/>
          </a:ln>
        </p:spPr>
        <p:txBody>
          <a:bodyPr spcFirstLastPara="1" wrap="square" lIns="91425" tIns="45700" rIns="91425" bIns="45700" anchor="t" anchorCtr="0">
            <a:noAutofit/>
          </a:bodyPr>
          <a:lstStyle/>
          <a:p>
            <a:pPr marL="482600" indent="-457200">
              <a:buSzPts val="2400"/>
            </a:pPr>
            <a:r>
              <a:rPr lang="en-US" dirty="0"/>
              <a:t>The smartphone market is highly competitive, with prices influenced by factors such as specifications, brand value, and market positioning.</a:t>
            </a:r>
          </a:p>
          <a:p>
            <a:pPr marL="482600" indent="-457200">
              <a:buSzPts val="2400"/>
            </a:pPr>
            <a:r>
              <a:rPr lang="en-US" dirty="0"/>
              <a:t>This project analyzes smartphone pricing using real-world data and data analytics techniques.</a:t>
            </a:r>
          </a:p>
          <a:p>
            <a:pPr marL="482600" indent="-457200">
              <a:buSzPts val="2400"/>
            </a:pPr>
            <a:r>
              <a:rPr lang="en-US" dirty="0"/>
              <a:t>Exploratory Data Analysis (EDA) is used to study the impact of features like ROM (storage), and discounts on pricing. Visualizations help identify key trends and patterns in the data. </a:t>
            </a:r>
          </a:p>
          <a:p>
            <a:pPr marL="482600" indent="-457200">
              <a:buSzPts val="2400"/>
            </a:pPr>
            <a:r>
              <a:rPr lang="en-US" dirty="0"/>
              <a:t>The insights derived support data-driven decision-making for manufacturers, retailers, and customers.</a:t>
            </a:r>
            <a:endParaRPr lang="en-US" b="1" dirty="0">
              <a:solidFill>
                <a:srgbClr val="FF0000"/>
              </a:solidFill>
              <a:latin typeface="Arial Black" panose="020B0A040201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07409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6ACC60C0-398A-A640-B731-D789AA325AA0}"/>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58E793A-D5FB-724A-26ED-6FB571FB6447}"/>
              </a:ext>
            </a:extLst>
          </p:cNvPr>
          <p:cNvSpPr txBox="1">
            <a:spLocks noGrp="1"/>
          </p:cNvSpPr>
          <p:nvPr>
            <p:ph type="title"/>
          </p:nvPr>
        </p:nvSpPr>
        <p:spPr>
          <a:xfrm>
            <a:off x="991520" y="18255"/>
            <a:ext cx="9732552" cy="1028120"/>
          </a:xfrm>
          <a:prstGeom prst="rect">
            <a:avLst/>
          </a:prstGeom>
          <a:noFill/>
          <a:ln>
            <a:noFill/>
          </a:ln>
        </p:spPr>
        <p:txBody>
          <a:bodyPr spcFirstLastPara="1" wrap="square" lIns="91425" tIns="45700" rIns="91425" bIns="45700" anchor="ctr" anchorCtr="0">
            <a:normAutofit fontScale="90000"/>
          </a:bodyPr>
          <a:lstStyle/>
          <a:p>
            <a:pPr algn="ctr">
              <a:buClr>
                <a:srgbClr val="FF0000"/>
              </a:buClr>
              <a:buSzPts val="4400"/>
            </a:pPr>
            <a:br>
              <a:rPr lang="en-IN" sz="3600" b="1" dirty="0">
                <a:solidFill>
                  <a:srgbClr val="FF0000"/>
                </a:solidFill>
                <a:latin typeface="Arial Black" panose="020B0A04020102020204" pitchFamily="34" charset="0"/>
                <a:ea typeface="Calibri" panose="020F0502020204030204" pitchFamily="34" charset="0"/>
                <a:cs typeface="Calibri" panose="020F0502020204030204" pitchFamily="34" charset="0"/>
              </a:rPr>
            </a:br>
            <a:br>
              <a:rPr lang="en-IN" sz="3600" b="1" dirty="0">
                <a:solidFill>
                  <a:srgbClr val="FF0000"/>
                </a:solidFill>
                <a:latin typeface="Arial Black" panose="020B0A04020102020204" pitchFamily="34" charset="0"/>
                <a:ea typeface="Calibri" panose="020F0502020204030204" pitchFamily="34" charset="0"/>
                <a:cs typeface="Calibri" panose="020F0502020204030204" pitchFamily="34" charset="0"/>
              </a:rPr>
            </a:br>
            <a:r>
              <a:rPr lang="en-IN" b="1" dirty="0">
                <a:solidFill>
                  <a:srgbClr val="FF0000"/>
                </a:solidFill>
                <a:latin typeface="Arial Black" panose="020B0A04020102020204" pitchFamily="34" charset="0"/>
                <a:ea typeface="Calibri" panose="020F0502020204030204" pitchFamily="34" charset="0"/>
                <a:cs typeface="Calibri" panose="020F0502020204030204" pitchFamily="34" charset="0"/>
              </a:rPr>
              <a:t>Business Problem</a:t>
            </a:r>
            <a:br>
              <a:rPr lang="en-IN" b="1" dirty="0">
                <a:latin typeface="Calibri" panose="020F0502020204030204" pitchFamily="34" charset="0"/>
                <a:ea typeface="Calibri" panose="020F0502020204030204" pitchFamily="34" charset="0"/>
                <a:cs typeface="Calibri" panose="020F0502020204030204" pitchFamily="34" charset="0"/>
              </a:rPr>
            </a:br>
            <a:endParaRPr b="1" dirty="0">
              <a:solidFill>
                <a:srgbClr val="FF0000"/>
              </a:solidFill>
              <a:latin typeface="Algerian" panose="04020705040A02060702" pitchFamily="82" charset="0"/>
            </a:endParaRPr>
          </a:p>
        </p:txBody>
      </p:sp>
      <p:sp>
        <p:nvSpPr>
          <p:cNvPr id="111" name="Google Shape;111;p4">
            <a:extLst>
              <a:ext uri="{FF2B5EF4-FFF2-40B4-BE49-F238E27FC236}">
                <a16:creationId xmlns:a16="http://schemas.microsoft.com/office/drawing/2014/main" id="{52C8BE49-7857-C6A8-6330-320E84BE8647}"/>
              </a:ext>
            </a:extLst>
          </p:cNvPr>
          <p:cNvSpPr txBox="1">
            <a:spLocks noGrp="1"/>
          </p:cNvSpPr>
          <p:nvPr>
            <p:ph type="body" idx="1"/>
          </p:nvPr>
        </p:nvSpPr>
        <p:spPr>
          <a:xfrm>
            <a:off x="684880" y="1046374"/>
            <a:ext cx="10515600" cy="5223993"/>
          </a:xfrm>
          <a:prstGeom prst="rect">
            <a:avLst/>
          </a:prstGeom>
          <a:noFill/>
          <a:ln>
            <a:noFill/>
          </a:ln>
        </p:spPr>
        <p:txBody>
          <a:bodyPr spcFirstLastPara="1" wrap="square" lIns="91425" tIns="45700" rIns="91425" bIns="45700" anchor="t" anchorCtr="0">
            <a:normAutofit fontScale="92500" lnSpcReduction="20000"/>
          </a:bodyPr>
          <a:lstStyle/>
          <a:p>
            <a:pPr marL="114300" indent="0">
              <a:buNone/>
            </a:pPr>
            <a:r>
              <a:rPr lang="en-US" sz="2400" b="1" u="sng" dirty="0">
                <a:solidFill>
                  <a:srgbClr val="FF0000"/>
                </a:solidFill>
              </a:rPr>
              <a:t>Business Problem</a:t>
            </a:r>
          </a:p>
          <a:p>
            <a:pPr marL="114300" indent="0" algn="just">
              <a:buNone/>
            </a:pPr>
            <a:r>
              <a:rPr lang="en-US" sz="2400" dirty="0"/>
              <a:t>A mobile phone is available in multiple variants based on features such as brand, color options, internal storage (ROM), and price. Even within the same brand and similar specifications, phone prices vary significantly due to these factors.</a:t>
            </a:r>
          </a:p>
          <a:p>
            <a:pPr marL="114300" indent="0" algn="just">
              <a:buNone/>
            </a:pPr>
            <a:r>
              <a:rPr lang="en-US" sz="2400" b="1" u="sng" dirty="0">
                <a:solidFill>
                  <a:srgbClr val="FF0000"/>
                </a:solidFill>
              </a:rPr>
              <a:t>Business Objective</a:t>
            </a:r>
          </a:p>
          <a:p>
            <a:pPr algn="just"/>
            <a:r>
              <a:rPr lang="en-US" sz="2400" dirty="0"/>
              <a:t>To analyze smartphone pricing using real-world market data.</a:t>
            </a:r>
          </a:p>
          <a:p>
            <a:pPr algn="just"/>
            <a:r>
              <a:rPr lang="en-US" sz="2400" dirty="0"/>
              <a:t>To identify the key factors influencing smartphone prices such as RAM, storage, and discounts</a:t>
            </a:r>
          </a:p>
          <a:p>
            <a:pPr algn="just"/>
            <a:r>
              <a:rPr lang="en-US" sz="2400" dirty="0"/>
              <a:t>To perform Exploratory Data Analysis (EDA) to uncover trends and patterns in smartphone pricing.</a:t>
            </a:r>
          </a:p>
          <a:p>
            <a:pPr algn="just"/>
            <a:r>
              <a:rPr lang="en-US" sz="2400" dirty="0"/>
              <a:t>To understand the relationship between specifications and price across different brands and segments.</a:t>
            </a:r>
            <a:endParaRPr lang="en-US" sz="2400" b="1" u="sng" dirty="0">
              <a:solidFill>
                <a:srgbClr val="FF0000"/>
              </a:solidFill>
            </a:endParaRPr>
          </a:p>
          <a:p>
            <a:pPr marL="114300" indent="0" algn="just">
              <a:buNone/>
            </a:pPr>
            <a:r>
              <a:rPr lang="en-US" sz="2400" b="1" u="sng" dirty="0">
                <a:solidFill>
                  <a:srgbClr val="FF0000"/>
                </a:solidFill>
              </a:rPr>
              <a:t>Problem Statement</a:t>
            </a:r>
          </a:p>
          <a:p>
            <a:pPr marL="114300" indent="0" algn="just">
              <a:buNone/>
            </a:pPr>
            <a:r>
              <a:rPr lang="en-US" sz="2400" dirty="0"/>
              <a:t>Smartphone prices vary a lot due to factors like brand, internal storage (ROM), and color options, which can confuse customers while comparing devices.</a:t>
            </a:r>
            <a:endParaRPr lang="en-US" sz="2400" b="1" u="sng" dirty="0">
              <a:solidFill>
                <a:srgbClr val="FF0000"/>
              </a:solidFill>
            </a:endParaRPr>
          </a:p>
          <a:p>
            <a:pPr marL="114300" indent="0" algn="just">
              <a:buNone/>
            </a:pPr>
            <a:endParaRPr lang="en-US" sz="2400" dirty="0"/>
          </a:p>
          <a:p>
            <a:pPr marL="114300" indent="0" algn="just">
              <a:buNone/>
            </a:pPr>
            <a:endParaRPr lang="en-US" sz="2400" dirty="0"/>
          </a:p>
          <a:p>
            <a:pPr marL="25400" indent="0">
              <a:buSzPts val="2400"/>
              <a:buNone/>
            </a:pPr>
            <a:endParaRPr lang="en-US" sz="2400" b="1" dirty="0">
              <a:solidFill>
                <a:srgbClr val="FF0000"/>
              </a:solidFill>
              <a:latin typeface="Arial Black" panose="020B0A0402010202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7665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03012-E76D-EFFB-5F2F-89B032F3B830}"/>
              </a:ext>
            </a:extLst>
          </p:cNvPr>
          <p:cNvSpPr>
            <a:spLocks noGrp="1"/>
          </p:cNvSpPr>
          <p:nvPr>
            <p:ph type="title"/>
          </p:nvPr>
        </p:nvSpPr>
        <p:spPr>
          <a:xfrm>
            <a:off x="838200" y="365125"/>
            <a:ext cx="10515600" cy="717441"/>
          </a:xfrm>
        </p:spPr>
        <p:txBody>
          <a:bodyPr/>
          <a:lstStyle/>
          <a:p>
            <a:r>
              <a:rPr lang="en-US" b="1" dirty="0">
                <a:solidFill>
                  <a:srgbClr val="FF0000"/>
                </a:solidFill>
              </a:rPr>
              <a:t>Web Scrapping - Details</a:t>
            </a:r>
            <a:endParaRPr lang="en-IN" b="1" dirty="0">
              <a:solidFill>
                <a:srgbClr val="FF0000"/>
              </a:solidFill>
            </a:endParaRPr>
          </a:p>
        </p:txBody>
      </p:sp>
      <p:sp>
        <p:nvSpPr>
          <p:cNvPr id="3" name="TextBox 2">
            <a:extLst>
              <a:ext uri="{FF2B5EF4-FFF2-40B4-BE49-F238E27FC236}">
                <a16:creationId xmlns:a16="http://schemas.microsoft.com/office/drawing/2014/main" id="{8B77273B-2145-AAEC-864F-A4167FE08486}"/>
              </a:ext>
            </a:extLst>
          </p:cNvPr>
          <p:cNvSpPr txBox="1"/>
          <p:nvPr/>
        </p:nvSpPr>
        <p:spPr>
          <a:xfrm>
            <a:off x="735724" y="1534510"/>
            <a:ext cx="10428890" cy="4616648"/>
          </a:xfrm>
          <a:prstGeom prst="rect">
            <a:avLst/>
          </a:prstGeom>
          <a:noFill/>
        </p:spPr>
        <p:txBody>
          <a:bodyPr wrap="square" rtlCol="0">
            <a:spAutoFit/>
          </a:bodyPr>
          <a:lstStyle/>
          <a:p>
            <a:r>
              <a:rPr lang="en-US" sz="2000" b="1" dirty="0"/>
              <a:t>Website Scrapped:</a:t>
            </a:r>
          </a:p>
          <a:p>
            <a:r>
              <a:rPr lang="en-US" sz="2000" dirty="0" err="1"/>
              <a:t>Shopsy</a:t>
            </a:r>
            <a:r>
              <a:rPr lang="en-US" sz="2000" dirty="0"/>
              <a:t> (Mobiles Category Pages)</a:t>
            </a:r>
          </a:p>
          <a:p>
            <a:endParaRPr lang="en-US" sz="2000" dirty="0"/>
          </a:p>
          <a:p>
            <a:r>
              <a:rPr lang="en-US" sz="2000" b="1" dirty="0"/>
              <a:t>Data Source Type :</a:t>
            </a:r>
          </a:p>
          <a:p>
            <a:r>
              <a:rPr lang="en-US" sz="2000" dirty="0"/>
              <a:t>Publicly available product listing pages on </a:t>
            </a:r>
            <a:r>
              <a:rPr lang="en-US" sz="2000" dirty="0" err="1"/>
              <a:t>Shopsy</a:t>
            </a:r>
            <a:r>
              <a:rPr lang="en-US" sz="2000" dirty="0"/>
              <a:t> website</a:t>
            </a:r>
          </a:p>
          <a:p>
            <a:endParaRPr lang="en-US" sz="2000" b="1" dirty="0"/>
          </a:p>
          <a:p>
            <a:r>
              <a:rPr lang="en-US" sz="2000" b="1" dirty="0"/>
              <a:t>Tools and Technologies Used :</a:t>
            </a:r>
          </a:p>
          <a:p>
            <a:endParaRPr lang="en-US" sz="2000" b="1" dirty="0"/>
          </a:p>
          <a:p>
            <a:r>
              <a:rPr lang="en-US" sz="2000" b="1" dirty="0"/>
              <a:t>Python</a:t>
            </a:r>
          </a:p>
          <a:p>
            <a:r>
              <a:rPr lang="en-US" sz="2000" b="1" dirty="0"/>
              <a:t>Selenium</a:t>
            </a:r>
          </a:p>
          <a:p>
            <a:r>
              <a:rPr lang="en-US" sz="2000" b="1" dirty="0"/>
              <a:t>Regex</a:t>
            </a:r>
          </a:p>
          <a:p>
            <a:r>
              <a:rPr lang="en-US" sz="2000" b="1" dirty="0"/>
              <a:t>Pandas</a:t>
            </a:r>
          </a:p>
          <a:p>
            <a:r>
              <a:rPr lang="en-US" sz="2000" b="1" dirty="0"/>
              <a:t>Matplotlib</a:t>
            </a:r>
          </a:p>
          <a:p>
            <a:r>
              <a:rPr lang="en-US" sz="2000" b="1" dirty="0"/>
              <a:t>Seaborn</a:t>
            </a:r>
          </a:p>
          <a:p>
            <a:endParaRPr lang="en-IN" dirty="0"/>
          </a:p>
        </p:txBody>
      </p:sp>
    </p:spTree>
    <p:extLst>
      <p:ext uri="{BB962C8B-B14F-4D97-AF65-F5344CB8AC3E}">
        <p14:creationId xmlns:p14="http://schemas.microsoft.com/office/powerpoint/2010/main" val="602041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1E86B-C55C-9689-F4AB-D8BCCB7F00E9}"/>
              </a:ext>
            </a:extLst>
          </p:cNvPr>
          <p:cNvSpPr>
            <a:spLocks noGrp="1"/>
          </p:cNvSpPr>
          <p:nvPr>
            <p:ph type="title"/>
          </p:nvPr>
        </p:nvSpPr>
        <p:spPr>
          <a:xfrm>
            <a:off x="838200" y="365125"/>
            <a:ext cx="10515600" cy="549275"/>
          </a:xfrm>
        </p:spPr>
        <p:txBody>
          <a:bodyPr>
            <a:normAutofit fontScale="90000"/>
          </a:bodyPr>
          <a:lstStyle/>
          <a:p>
            <a:r>
              <a:rPr lang="en-US" b="1" dirty="0">
                <a:solidFill>
                  <a:srgbClr val="FF0000"/>
                </a:solidFill>
              </a:rPr>
              <a:t>Simple Description of Column in Dataset</a:t>
            </a:r>
            <a:endParaRPr lang="en-IN" b="1" dirty="0">
              <a:solidFill>
                <a:srgbClr val="FF0000"/>
              </a:solidFill>
            </a:endParaRPr>
          </a:p>
        </p:txBody>
      </p:sp>
      <p:sp>
        <p:nvSpPr>
          <p:cNvPr id="9" name="TextBox 8">
            <a:extLst>
              <a:ext uri="{FF2B5EF4-FFF2-40B4-BE49-F238E27FC236}">
                <a16:creationId xmlns:a16="http://schemas.microsoft.com/office/drawing/2014/main" id="{8D0D283B-9760-447D-3311-AA41A8175F3D}"/>
              </a:ext>
            </a:extLst>
          </p:cNvPr>
          <p:cNvSpPr txBox="1"/>
          <p:nvPr/>
        </p:nvSpPr>
        <p:spPr>
          <a:xfrm>
            <a:off x="966952" y="1460938"/>
            <a:ext cx="10386848" cy="4524315"/>
          </a:xfrm>
          <a:prstGeom prst="rect">
            <a:avLst/>
          </a:prstGeom>
          <a:noFill/>
        </p:spPr>
        <p:txBody>
          <a:bodyPr wrap="square" rtlCol="0">
            <a:spAutoFit/>
          </a:bodyPr>
          <a:lstStyle/>
          <a:p>
            <a:r>
              <a:rPr lang="en-US" sz="1800" b="1" dirty="0" err="1"/>
              <a:t>Mobile_Name</a:t>
            </a:r>
            <a:r>
              <a:rPr lang="en-US" sz="1800" b="1" dirty="0"/>
              <a:t>:</a:t>
            </a:r>
            <a:r>
              <a:rPr lang="en-US" sz="1800" dirty="0"/>
              <a:t> Name or model of the mobile phone.</a:t>
            </a:r>
          </a:p>
          <a:p>
            <a:endParaRPr lang="en-US" sz="1800" dirty="0"/>
          </a:p>
          <a:p>
            <a:r>
              <a:rPr lang="en-US" sz="1800" b="1" dirty="0"/>
              <a:t>Color:</a:t>
            </a:r>
            <a:r>
              <a:rPr lang="en-US" sz="1800" dirty="0"/>
              <a:t> Color variant of the mobile phone.</a:t>
            </a:r>
          </a:p>
          <a:p>
            <a:endParaRPr lang="en-US" sz="1800" dirty="0"/>
          </a:p>
          <a:p>
            <a:r>
              <a:rPr lang="en-US" sz="1800" b="1" dirty="0"/>
              <a:t>Brand:</a:t>
            </a:r>
            <a:r>
              <a:rPr lang="en-US" sz="1800" dirty="0"/>
              <a:t> Company or manufacturer of the mobile phone.</a:t>
            </a:r>
          </a:p>
          <a:p>
            <a:endParaRPr lang="en-US" sz="1800" dirty="0"/>
          </a:p>
          <a:p>
            <a:r>
              <a:rPr lang="en-US" sz="1800" b="1" dirty="0"/>
              <a:t>ROM:</a:t>
            </a:r>
            <a:r>
              <a:rPr lang="en-US" sz="1800" dirty="0"/>
              <a:t> Internal storage capacity of the mobile phone (in GB).</a:t>
            </a:r>
          </a:p>
          <a:p>
            <a:endParaRPr lang="en-US" sz="1800" dirty="0"/>
          </a:p>
          <a:p>
            <a:r>
              <a:rPr lang="en-US" sz="1800" b="1" dirty="0" err="1"/>
              <a:t>MRP_Price</a:t>
            </a:r>
            <a:r>
              <a:rPr lang="en-US" sz="1800" b="1" dirty="0"/>
              <a:t>:</a:t>
            </a:r>
            <a:r>
              <a:rPr lang="en-US" sz="1800" dirty="0"/>
              <a:t> Original listed price of the mobile phone.</a:t>
            </a:r>
          </a:p>
          <a:p>
            <a:endParaRPr lang="en-US" sz="1800" dirty="0"/>
          </a:p>
          <a:p>
            <a:r>
              <a:rPr lang="en-US" sz="1800" b="1" dirty="0" err="1"/>
              <a:t>Selling_Price</a:t>
            </a:r>
            <a:r>
              <a:rPr lang="en-US" sz="1800" b="1" dirty="0"/>
              <a:t>:</a:t>
            </a:r>
            <a:r>
              <a:rPr lang="en-US" sz="1800" dirty="0"/>
              <a:t> Actual price at which the mobile phone is sold.</a:t>
            </a:r>
          </a:p>
          <a:p>
            <a:endParaRPr lang="en-US" sz="1800" dirty="0"/>
          </a:p>
          <a:p>
            <a:r>
              <a:rPr lang="en-US" sz="1800" b="1" dirty="0"/>
              <a:t>Discount:</a:t>
            </a:r>
            <a:r>
              <a:rPr lang="en-US" sz="1800" dirty="0"/>
              <a:t> Amount or percentage reduced from the MRP price.</a:t>
            </a:r>
          </a:p>
          <a:p>
            <a:endParaRPr lang="en-US" sz="1800" dirty="0"/>
          </a:p>
          <a:p>
            <a:r>
              <a:rPr lang="en-US" sz="1800" b="1" dirty="0"/>
              <a:t>Category:</a:t>
            </a:r>
            <a:r>
              <a:rPr lang="en-US" sz="1800" dirty="0"/>
              <a:t> It tells about the category of a Mobile </a:t>
            </a:r>
            <a:r>
              <a:rPr lang="en-US" sz="1800" dirty="0" err="1"/>
              <a:t>wheather</a:t>
            </a:r>
            <a:r>
              <a:rPr lang="en-US" sz="1800" dirty="0"/>
              <a:t> it is in Budget, Premium and Luxury.</a:t>
            </a:r>
          </a:p>
          <a:p>
            <a:endParaRPr lang="en-IN" sz="1800" dirty="0"/>
          </a:p>
        </p:txBody>
      </p:sp>
    </p:spTree>
    <p:extLst>
      <p:ext uri="{BB962C8B-B14F-4D97-AF65-F5344CB8AC3E}">
        <p14:creationId xmlns:p14="http://schemas.microsoft.com/office/powerpoint/2010/main" val="3011099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14807-1EDC-BCDD-632B-4952EE452735}"/>
              </a:ext>
            </a:extLst>
          </p:cNvPr>
          <p:cNvSpPr>
            <a:spLocks noGrp="1"/>
          </p:cNvSpPr>
          <p:nvPr>
            <p:ph type="title"/>
          </p:nvPr>
        </p:nvSpPr>
        <p:spPr>
          <a:xfrm>
            <a:off x="838200" y="365126"/>
            <a:ext cx="10515600" cy="618100"/>
          </a:xfrm>
        </p:spPr>
        <p:txBody>
          <a:bodyPr>
            <a:normAutofit/>
          </a:bodyPr>
          <a:lstStyle/>
          <a:p>
            <a:r>
              <a:rPr lang="en-IN" sz="3200" spc="-10" dirty="0">
                <a:solidFill>
                  <a:srgbClr val="FF0000"/>
                </a:solidFill>
                <a:latin typeface="Segoe UI Semibold" panose="020B0702040204020203" pitchFamily="34" charset="0"/>
                <a:cs typeface="Segoe UI Semibold" panose="020B0702040204020203" pitchFamily="34" charset="0"/>
              </a:rPr>
              <a:t>Data Cleaning &amp; Manipulation :</a:t>
            </a:r>
            <a:endParaRPr lang="en-IN" sz="3200" dirty="0">
              <a:solidFill>
                <a:srgbClr val="FF0000"/>
              </a:solidFill>
            </a:endParaRPr>
          </a:p>
        </p:txBody>
      </p:sp>
      <p:sp>
        <p:nvSpPr>
          <p:cNvPr id="3" name="TextBox 2">
            <a:extLst>
              <a:ext uri="{FF2B5EF4-FFF2-40B4-BE49-F238E27FC236}">
                <a16:creationId xmlns:a16="http://schemas.microsoft.com/office/drawing/2014/main" id="{D141ED08-CFF1-2C09-407C-9B26B33C3247}"/>
              </a:ext>
            </a:extLst>
          </p:cNvPr>
          <p:cNvSpPr txBox="1"/>
          <p:nvPr/>
        </p:nvSpPr>
        <p:spPr>
          <a:xfrm>
            <a:off x="722587" y="1151392"/>
            <a:ext cx="10350910" cy="6247864"/>
          </a:xfrm>
          <a:prstGeom prst="rect">
            <a:avLst/>
          </a:prstGeom>
          <a:noFill/>
        </p:spPr>
        <p:txBody>
          <a:bodyPr wrap="square" rtlCol="0">
            <a:spAutoFit/>
          </a:bodyPr>
          <a:lstStyle/>
          <a:p>
            <a:r>
              <a:rPr lang="en-US" sz="2000" b="1" u="sng" dirty="0">
                <a:solidFill>
                  <a:srgbClr val="FF0000"/>
                </a:solidFill>
                <a:latin typeface="Calibri" panose="020F0502020204030204" pitchFamily="34" charset="0"/>
                <a:ea typeface="Calibri" panose="020F0502020204030204" pitchFamily="34" charset="0"/>
                <a:cs typeface="Calibri" panose="020F0502020204030204" pitchFamily="34" charset="0"/>
              </a:rPr>
              <a:t>Handling Data Types </a:t>
            </a:r>
          </a:p>
          <a:p>
            <a:pPr marL="457200" indent="-457200">
              <a:buFont typeface="Arial" panose="020B0604020202020204" pitchFamily="34" charset="0"/>
              <a:buChar char="•"/>
            </a:pPr>
            <a:r>
              <a:rPr lang="en-US" sz="2000" dirty="0" err="1">
                <a:latin typeface="Calibri" panose="020F0502020204030204" pitchFamily="34" charset="0"/>
                <a:ea typeface="Calibri" panose="020F0502020204030204" pitchFamily="34" charset="0"/>
                <a:cs typeface="Calibri" panose="020F0502020204030204" pitchFamily="34" charset="0"/>
              </a:rPr>
              <a:t>Droped</a:t>
            </a:r>
            <a:r>
              <a:rPr lang="en-US" sz="2000" dirty="0">
                <a:latin typeface="Calibri" panose="020F0502020204030204" pitchFamily="34" charset="0"/>
                <a:ea typeface="Calibri" panose="020F0502020204030204" pitchFamily="34" charset="0"/>
                <a:cs typeface="Calibri" panose="020F0502020204030204" pitchFamily="34" charset="0"/>
              </a:rPr>
              <a:t> The Null Values. </a:t>
            </a:r>
          </a:p>
          <a:p>
            <a:pPr marL="457200" indent="-4572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Converted the </a:t>
            </a:r>
            <a:r>
              <a:rPr lang="en-US" sz="2000" dirty="0" err="1">
                <a:latin typeface="Calibri" panose="020F0502020204030204" pitchFamily="34" charset="0"/>
                <a:ea typeface="Calibri" panose="020F0502020204030204" pitchFamily="34" charset="0"/>
                <a:cs typeface="Calibri" panose="020F0502020204030204" pitchFamily="34" charset="0"/>
              </a:rPr>
              <a:t>selling_price</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dirty="0" err="1">
                <a:latin typeface="Calibri" panose="020F0502020204030204" pitchFamily="34" charset="0"/>
                <a:ea typeface="Calibri" panose="020F0502020204030204" pitchFamily="34" charset="0"/>
                <a:cs typeface="Calibri" panose="020F0502020204030204" pitchFamily="34" charset="0"/>
              </a:rPr>
              <a:t>ROM,MRP_Price</a:t>
            </a:r>
            <a:r>
              <a:rPr lang="en-US" sz="2000" dirty="0">
                <a:latin typeface="Calibri" panose="020F0502020204030204" pitchFamily="34" charset="0"/>
                <a:ea typeface="Calibri" panose="020F0502020204030204" pitchFamily="34" charset="0"/>
                <a:cs typeface="Calibri" panose="020F0502020204030204" pitchFamily="34" charset="0"/>
              </a:rPr>
              <a:t> To Absolute Values.</a:t>
            </a:r>
          </a:p>
          <a:p>
            <a:pPr marL="457200" indent="-457200">
              <a:buFont typeface="Arial" panose="020B0604020202020204" pitchFamily="34" charset="0"/>
              <a:buChar char="•"/>
            </a:pPr>
            <a:r>
              <a:rPr lang="en-US" sz="2000" dirty="0" err="1">
                <a:latin typeface="Calibri" panose="020F0502020204030204" pitchFamily="34" charset="0"/>
                <a:ea typeface="Calibri" panose="020F0502020204030204" pitchFamily="34" charset="0"/>
                <a:cs typeface="Calibri" panose="020F0502020204030204" pitchFamily="34" charset="0"/>
              </a:rPr>
              <a:t>Droped</a:t>
            </a:r>
            <a:r>
              <a:rPr lang="en-US" sz="2000" dirty="0">
                <a:latin typeface="Calibri" panose="020F0502020204030204" pitchFamily="34" charset="0"/>
                <a:ea typeface="Calibri" panose="020F0502020204030204" pitchFamily="34" charset="0"/>
                <a:cs typeface="Calibri" panose="020F0502020204030204" pitchFamily="34" charset="0"/>
              </a:rPr>
              <a:t> the Brand column from the data set and extracted the brand Name From </a:t>
            </a:r>
            <a:r>
              <a:rPr lang="en-US" sz="2000" dirty="0" err="1">
                <a:latin typeface="Calibri" panose="020F0502020204030204" pitchFamily="34" charset="0"/>
                <a:ea typeface="Calibri" panose="020F0502020204030204" pitchFamily="34" charset="0"/>
                <a:cs typeface="Calibri" panose="020F0502020204030204" pitchFamily="34" charset="0"/>
              </a:rPr>
              <a:t>Mobile_Name</a:t>
            </a:r>
            <a:r>
              <a:rPr lang="en-US" sz="2000" dirty="0">
                <a:latin typeface="Calibri" panose="020F0502020204030204" pitchFamily="34" charset="0"/>
                <a:ea typeface="Calibri" panose="020F0502020204030204" pitchFamily="34" charset="0"/>
                <a:cs typeface="Calibri" panose="020F0502020204030204" pitchFamily="34" charset="0"/>
              </a:rPr>
              <a:t>.</a:t>
            </a:r>
          </a:p>
          <a:p>
            <a:pPr marL="457200" indent="-4572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Removed inconsistent data and made it to consistent and changed the data type of a column object to numeric or int.</a:t>
            </a:r>
          </a:p>
          <a:p>
            <a:pPr marL="457200" indent="-4572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Standardizing the data and reset the data.</a:t>
            </a:r>
          </a:p>
          <a:p>
            <a:r>
              <a:rPr lang="en-US" sz="2000" b="1" u="sng" dirty="0">
                <a:solidFill>
                  <a:srgbClr val="FF0000"/>
                </a:solidFill>
                <a:latin typeface="Calibri" panose="020F0502020204030204" pitchFamily="34" charset="0"/>
                <a:ea typeface="Calibri" panose="020F0502020204030204" pitchFamily="34" charset="0"/>
                <a:cs typeface="Calibri" panose="020F0502020204030204" pitchFamily="34" charset="0"/>
              </a:rPr>
              <a:t>New Created columns</a:t>
            </a: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Created a new column which tells about the segment of the mobile weather it is budget, Premium and Luxury.</a:t>
            </a:r>
          </a:p>
          <a:p>
            <a:r>
              <a:rPr lang="en-US" sz="2000" b="1" u="sng" dirty="0">
                <a:solidFill>
                  <a:srgbClr val="FF0000"/>
                </a:solidFill>
                <a:latin typeface="Calibri" panose="020F0502020204030204" pitchFamily="34" charset="0"/>
                <a:ea typeface="Calibri" panose="020F0502020204030204" pitchFamily="34" charset="0"/>
                <a:cs typeface="Calibri" panose="020F0502020204030204" pitchFamily="34" charset="0"/>
              </a:rPr>
              <a:t>Handling Missing Values</a:t>
            </a:r>
          </a:p>
          <a:p>
            <a:pPr marL="342900" indent="-342900">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Filled the Missing Values in the Brand Column by using the Mobile Name Column.</a:t>
            </a:r>
          </a:p>
          <a:p>
            <a:r>
              <a:rPr lang="en-US" sz="2000" b="1" u="sng" dirty="0">
                <a:solidFill>
                  <a:srgbClr val="FF0000"/>
                </a:solidFill>
                <a:latin typeface="Calibri" panose="020F0502020204030204" pitchFamily="34" charset="0"/>
                <a:ea typeface="Calibri" panose="020F0502020204030204" pitchFamily="34" charset="0"/>
                <a:cs typeface="Calibri" panose="020F0502020204030204" pitchFamily="34" charset="0"/>
              </a:rPr>
              <a:t>Outlier &amp; Data Consistency Check:</a:t>
            </a:r>
          </a:p>
          <a:p>
            <a:pPr marL="342900" indent="-342900">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Used boxplot to detect outliers, found negative values in some columns.</a:t>
            </a:r>
          </a:p>
          <a:p>
            <a:pPr marL="342900" indent="-342900">
              <a:buFont typeface="Arial" panose="020B0604020202020204" pitchFamily="34" charset="0"/>
              <a:buChar char="•"/>
            </a:pP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Converted negative values to Positive using absolute value.</a:t>
            </a:r>
          </a:p>
          <a:p>
            <a:endPar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  </a:t>
            </a:r>
          </a:p>
          <a:p>
            <a:pPr marL="457200" indent="-457200">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2055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544D0-B767-400D-DFDA-AD1D66C55C7A}"/>
              </a:ext>
            </a:extLst>
          </p:cNvPr>
          <p:cNvSpPr>
            <a:spLocks noGrp="1"/>
          </p:cNvSpPr>
          <p:nvPr>
            <p:ph type="title"/>
          </p:nvPr>
        </p:nvSpPr>
        <p:spPr>
          <a:xfrm>
            <a:off x="838200" y="365126"/>
            <a:ext cx="10515600" cy="657430"/>
          </a:xfrm>
        </p:spPr>
        <p:txBody>
          <a:bodyPr>
            <a:normAutofit/>
          </a:bodyPr>
          <a:lstStyle/>
          <a:p>
            <a:pPr algn="ctr"/>
            <a:r>
              <a:rPr lang="en-IN" sz="3600" b="1" dirty="0">
                <a:solidFill>
                  <a:srgbClr val="FF0000"/>
                </a:solidFill>
              </a:rPr>
              <a:t>Univariate Analysis</a:t>
            </a:r>
          </a:p>
        </p:txBody>
      </p:sp>
      <p:pic>
        <p:nvPicPr>
          <p:cNvPr id="4" name="Picture 3">
            <a:extLst>
              <a:ext uri="{FF2B5EF4-FFF2-40B4-BE49-F238E27FC236}">
                <a16:creationId xmlns:a16="http://schemas.microsoft.com/office/drawing/2014/main" id="{3D59E438-8EBF-A68D-0DF5-77E11C6BC3A1}"/>
              </a:ext>
            </a:extLst>
          </p:cNvPr>
          <p:cNvPicPr>
            <a:picLocks noChangeAspect="1"/>
          </p:cNvPicPr>
          <p:nvPr/>
        </p:nvPicPr>
        <p:blipFill>
          <a:blip r:embed="rId2"/>
          <a:stretch>
            <a:fillRect/>
          </a:stretch>
        </p:blipFill>
        <p:spPr>
          <a:xfrm>
            <a:off x="1397538" y="848722"/>
            <a:ext cx="6027174" cy="3831094"/>
          </a:xfrm>
          <a:prstGeom prst="rect">
            <a:avLst/>
          </a:prstGeom>
        </p:spPr>
      </p:pic>
      <p:sp>
        <p:nvSpPr>
          <p:cNvPr id="5" name="TextBox 4">
            <a:extLst>
              <a:ext uri="{FF2B5EF4-FFF2-40B4-BE49-F238E27FC236}">
                <a16:creationId xmlns:a16="http://schemas.microsoft.com/office/drawing/2014/main" id="{FC498322-5226-A61E-39A2-4FEA9A6C43C3}"/>
              </a:ext>
            </a:extLst>
          </p:cNvPr>
          <p:cNvSpPr txBox="1"/>
          <p:nvPr/>
        </p:nvSpPr>
        <p:spPr>
          <a:xfrm>
            <a:off x="1166649" y="4679817"/>
            <a:ext cx="10187152" cy="1200329"/>
          </a:xfrm>
          <a:prstGeom prst="rect">
            <a:avLst/>
          </a:prstGeom>
          <a:noFill/>
        </p:spPr>
        <p:txBody>
          <a:bodyPr wrap="square" rtlCol="0">
            <a:spAutoFit/>
          </a:bodyPr>
          <a:lstStyle/>
          <a:p>
            <a:r>
              <a:rPr lang="en-US" sz="1800" b="1" dirty="0"/>
              <a:t>Insight : </a:t>
            </a:r>
          </a:p>
          <a:p>
            <a:r>
              <a:rPr lang="en-US" sz="1800" dirty="0"/>
              <a:t>Here From the above Visual We know That what is the Count of Mobile By the Brand, the dataset is dominated by Apple and Realme models, while most other brands have significantly fewer mobile models listed. </a:t>
            </a:r>
            <a:endParaRPr lang="en-IN" sz="1800" dirty="0"/>
          </a:p>
        </p:txBody>
      </p:sp>
    </p:spTree>
    <p:extLst>
      <p:ext uri="{BB962C8B-B14F-4D97-AF65-F5344CB8AC3E}">
        <p14:creationId xmlns:p14="http://schemas.microsoft.com/office/powerpoint/2010/main" val="2215789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37EF2-77AE-3F28-FEDD-7D74CEB01771}"/>
              </a:ext>
            </a:extLst>
          </p:cNvPr>
          <p:cNvSpPr>
            <a:spLocks noGrp="1"/>
          </p:cNvSpPr>
          <p:nvPr>
            <p:ph type="title"/>
          </p:nvPr>
        </p:nvSpPr>
        <p:spPr>
          <a:xfrm>
            <a:off x="838200" y="365125"/>
            <a:ext cx="10515600" cy="844243"/>
          </a:xfrm>
        </p:spPr>
        <p:txBody>
          <a:bodyPr>
            <a:normAutofit/>
          </a:bodyPr>
          <a:lstStyle/>
          <a:p>
            <a:r>
              <a:rPr lang="en-IN" sz="3200" b="1" dirty="0">
                <a:solidFill>
                  <a:srgbClr val="FF0000"/>
                </a:solidFill>
              </a:rPr>
              <a:t>MRP Price Distribution</a:t>
            </a:r>
          </a:p>
        </p:txBody>
      </p:sp>
      <p:pic>
        <p:nvPicPr>
          <p:cNvPr id="4" name="Picture 3">
            <a:extLst>
              <a:ext uri="{FF2B5EF4-FFF2-40B4-BE49-F238E27FC236}">
                <a16:creationId xmlns:a16="http://schemas.microsoft.com/office/drawing/2014/main" id="{309DE285-8002-F1AC-8D2C-B7AD542BCEEF}"/>
              </a:ext>
            </a:extLst>
          </p:cNvPr>
          <p:cNvPicPr>
            <a:picLocks noChangeAspect="1"/>
          </p:cNvPicPr>
          <p:nvPr/>
        </p:nvPicPr>
        <p:blipFill>
          <a:blip r:embed="rId2"/>
          <a:stretch>
            <a:fillRect/>
          </a:stretch>
        </p:blipFill>
        <p:spPr>
          <a:xfrm>
            <a:off x="545538" y="1209368"/>
            <a:ext cx="5914255" cy="4591664"/>
          </a:xfrm>
          <a:prstGeom prst="rect">
            <a:avLst/>
          </a:prstGeom>
        </p:spPr>
      </p:pic>
      <p:sp>
        <p:nvSpPr>
          <p:cNvPr id="5" name="TextBox 4">
            <a:extLst>
              <a:ext uri="{FF2B5EF4-FFF2-40B4-BE49-F238E27FC236}">
                <a16:creationId xmlns:a16="http://schemas.microsoft.com/office/drawing/2014/main" id="{4A701162-36B5-5A55-3184-7A206AE92C07}"/>
              </a:ext>
            </a:extLst>
          </p:cNvPr>
          <p:cNvSpPr txBox="1"/>
          <p:nvPr/>
        </p:nvSpPr>
        <p:spPr>
          <a:xfrm>
            <a:off x="6853084" y="1524001"/>
            <a:ext cx="4355690" cy="2893100"/>
          </a:xfrm>
          <a:prstGeom prst="rect">
            <a:avLst/>
          </a:prstGeom>
          <a:noFill/>
        </p:spPr>
        <p:txBody>
          <a:bodyPr wrap="square" rtlCol="0">
            <a:spAutoFit/>
          </a:bodyPr>
          <a:lstStyle/>
          <a:p>
            <a:r>
              <a:rPr lang="en-US" sz="2000" b="1" dirty="0"/>
              <a:t>Insights:</a:t>
            </a:r>
          </a:p>
          <a:p>
            <a:pPr marL="285750" indent="-285750">
              <a:buFont typeface="Arial" panose="020B0604020202020204" pitchFamily="34" charset="0"/>
              <a:buChar char="•"/>
            </a:pPr>
            <a:r>
              <a:rPr lang="en-US" sz="1800" dirty="0"/>
              <a:t>Here From The Above Visual </a:t>
            </a:r>
            <a:r>
              <a:rPr lang="en-US" sz="1800" dirty="0" err="1"/>
              <a:t>i.e</a:t>
            </a:r>
            <a:r>
              <a:rPr lang="en-US" sz="1800" dirty="0"/>
              <a:t> how the is distributed and count of Mobiles in that Price Range.</a:t>
            </a:r>
          </a:p>
          <a:p>
            <a:pPr marL="285750" indent="-285750">
              <a:buFont typeface="Arial" panose="020B0604020202020204" pitchFamily="34" charset="0"/>
              <a:buChar char="•"/>
            </a:pPr>
            <a:r>
              <a:rPr lang="en-US" sz="1800" dirty="0"/>
              <a:t>Most Of the Phones are in the Range of 2k to 30K.</a:t>
            </a:r>
          </a:p>
          <a:p>
            <a:pPr marL="285750" indent="-285750">
              <a:buFont typeface="Arial" panose="020B0604020202020204" pitchFamily="34" charset="0"/>
              <a:buChar char="•"/>
            </a:pPr>
            <a:r>
              <a:rPr lang="en-US" sz="1800" dirty="0"/>
              <a:t>Moderate Number Phones Phones are lied between 49K to 90k.</a:t>
            </a:r>
          </a:p>
          <a:p>
            <a:pPr marL="285750" indent="-285750">
              <a:buFont typeface="Arial" panose="020B0604020202020204" pitchFamily="34" charset="0"/>
              <a:buChar char="•"/>
            </a:pPr>
            <a:r>
              <a:rPr lang="en-US" sz="1800" dirty="0"/>
              <a:t>Few are lied in the range of 90k to 140K+.</a:t>
            </a:r>
          </a:p>
        </p:txBody>
      </p:sp>
    </p:spTree>
    <p:extLst>
      <p:ext uri="{BB962C8B-B14F-4D97-AF65-F5344CB8AC3E}">
        <p14:creationId xmlns:p14="http://schemas.microsoft.com/office/powerpoint/2010/main" val="2903361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354B5-2F85-C78D-1168-A2C320044553}"/>
              </a:ext>
            </a:extLst>
          </p:cNvPr>
          <p:cNvSpPr>
            <a:spLocks noGrp="1"/>
          </p:cNvSpPr>
          <p:nvPr>
            <p:ph type="title"/>
          </p:nvPr>
        </p:nvSpPr>
        <p:spPr/>
        <p:txBody>
          <a:bodyPr/>
          <a:lstStyle/>
          <a:p>
            <a:r>
              <a:rPr lang="en-IN" dirty="0"/>
              <a:t>Selling Price Distribution Of Mobile </a:t>
            </a:r>
          </a:p>
        </p:txBody>
      </p:sp>
      <p:pic>
        <p:nvPicPr>
          <p:cNvPr id="2050" name="Picture 2">
            <a:extLst>
              <a:ext uri="{FF2B5EF4-FFF2-40B4-BE49-F238E27FC236}">
                <a16:creationId xmlns:a16="http://schemas.microsoft.com/office/drawing/2014/main" id="{5C717AF3-E230-865B-B341-065492914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884" y="1615716"/>
            <a:ext cx="5191125" cy="43148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597FC52-D136-964B-6667-7E1940BE6117}"/>
              </a:ext>
            </a:extLst>
          </p:cNvPr>
          <p:cNvSpPr txBox="1"/>
          <p:nvPr/>
        </p:nvSpPr>
        <p:spPr>
          <a:xfrm>
            <a:off x="6390968" y="2054942"/>
            <a:ext cx="5191125" cy="2246769"/>
          </a:xfrm>
          <a:prstGeom prst="rect">
            <a:avLst/>
          </a:prstGeom>
          <a:noFill/>
        </p:spPr>
        <p:txBody>
          <a:bodyPr wrap="square" rtlCol="0">
            <a:spAutoFit/>
          </a:bodyPr>
          <a:lstStyle/>
          <a:p>
            <a:r>
              <a:rPr lang="en-IN" sz="2000" b="1" dirty="0"/>
              <a:t>Insights:</a:t>
            </a:r>
          </a:p>
          <a:p>
            <a:r>
              <a:rPr lang="en-US" sz="2000" dirty="0"/>
              <a:t>Most mobile phones are priced in the lower to mid price range, showing that affordable models dominate the market. A few very high-priced phones appear as outliers, indicating the presence of premium flagship models.</a:t>
            </a:r>
            <a:endParaRPr lang="en-IN" sz="2000" dirty="0"/>
          </a:p>
        </p:txBody>
      </p:sp>
    </p:spTree>
    <p:extLst>
      <p:ext uri="{BB962C8B-B14F-4D97-AF65-F5344CB8AC3E}">
        <p14:creationId xmlns:p14="http://schemas.microsoft.com/office/powerpoint/2010/main" val="1822370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7903D-20E2-F499-D7E3-8FB06B3EF909}"/>
              </a:ext>
            </a:extLst>
          </p:cNvPr>
          <p:cNvSpPr>
            <a:spLocks noGrp="1"/>
          </p:cNvSpPr>
          <p:nvPr>
            <p:ph type="title"/>
          </p:nvPr>
        </p:nvSpPr>
        <p:spPr>
          <a:xfrm>
            <a:off x="838200" y="365125"/>
            <a:ext cx="10515600" cy="693225"/>
          </a:xfrm>
        </p:spPr>
        <p:txBody>
          <a:bodyPr>
            <a:normAutofit/>
          </a:bodyPr>
          <a:lstStyle/>
          <a:p>
            <a:r>
              <a:rPr lang="en-US" sz="3200" b="1" dirty="0">
                <a:solidFill>
                  <a:srgbClr val="FF0000"/>
                </a:solidFill>
              </a:rPr>
              <a:t>Distribution of Discounts on Mobile Phones</a:t>
            </a:r>
            <a:endParaRPr lang="en-IN" sz="3200" b="1" dirty="0">
              <a:solidFill>
                <a:srgbClr val="FF0000"/>
              </a:solidFill>
            </a:endParaRPr>
          </a:p>
        </p:txBody>
      </p:sp>
      <p:pic>
        <p:nvPicPr>
          <p:cNvPr id="3074" name="Picture 2">
            <a:extLst>
              <a:ext uri="{FF2B5EF4-FFF2-40B4-BE49-F238E27FC236}">
                <a16:creationId xmlns:a16="http://schemas.microsoft.com/office/drawing/2014/main" id="{311BF680-9D02-5769-B1AC-186F229F5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152063"/>
            <a:ext cx="9553575" cy="354883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58AE9FA-52F6-EA70-EF0F-2305425126BC}"/>
              </a:ext>
            </a:extLst>
          </p:cNvPr>
          <p:cNvSpPr txBox="1"/>
          <p:nvPr/>
        </p:nvSpPr>
        <p:spPr>
          <a:xfrm>
            <a:off x="838200" y="5132439"/>
            <a:ext cx="10685206" cy="1138773"/>
          </a:xfrm>
          <a:prstGeom prst="rect">
            <a:avLst/>
          </a:prstGeom>
          <a:noFill/>
        </p:spPr>
        <p:txBody>
          <a:bodyPr wrap="square" rtlCol="0">
            <a:spAutoFit/>
          </a:bodyPr>
          <a:lstStyle/>
          <a:p>
            <a:r>
              <a:rPr lang="en-US" sz="1800" b="1" dirty="0"/>
              <a:t>Insights:</a:t>
            </a:r>
          </a:p>
          <a:p>
            <a:r>
              <a:rPr lang="en-US" sz="1800" dirty="0"/>
              <a:t>Most mobile phones have discounts in the low to medium range, mainly between about 5% and 25%.</a:t>
            </a:r>
          </a:p>
          <a:p>
            <a:r>
              <a:rPr lang="en-US" sz="1800" dirty="0"/>
              <a:t>Very high discounts are rare, which suggests heavy discounting is offered only on a few models.</a:t>
            </a:r>
          </a:p>
          <a:p>
            <a:endParaRPr lang="en-IN" dirty="0"/>
          </a:p>
        </p:txBody>
      </p:sp>
    </p:spTree>
    <p:extLst>
      <p:ext uri="{BB962C8B-B14F-4D97-AF65-F5344CB8AC3E}">
        <p14:creationId xmlns:p14="http://schemas.microsoft.com/office/powerpoint/2010/main" val="2497361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6FCE4-125F-3C77-6386-5490438D4CE9}"/>
              </a:ext>
            </a:extLst>
          </p:cNvPr>
          <p:cNvSpPr>
            <a:spLocks noGrp="1"/>
          </p:cNvSpPr>
          <p:nvPr>
            <p:ph type="title"/>
          </p:nvPr>
        </p:nvSpPr>
        <p:spPr>
          <a:xfrm>
            <a:off x="838200" y="365125"/>
            <a:ext cx="10515600" cy="465195"/>
          </a:xfrm>
        </p:spPr>
        <p:txBody>
          <a:bodyPr>
            <a:normAutofit fontScale="90000"/>
          </a:bodyPr>
          <a:lstStyle/>
          <a:p>
            <a:r>
              <a:rPr lang="en-US" sz="3200" b="1" dirty="0">
                <a:solidFill>
                  <a:srgbClr val="FF0000"/>
                </a:solidFill>
              </a:rPr>
              <a:t>Brand vs Selling Price</a:t>
            </a:r>
            <a:endParaRPr lang="en-IN" sz="3200" b="1" dirty="0">
              <a:solidFill>
                <a:srgbClr val="FF0000"/>
              </a:solidFill>
            </a:endParaRPr>
          </a:p>
        </p:txBody>
      </p:sp>
      <p:pic>
        <p:nvPicPr>
          <p:cNvPr id="1026" name="Picture 2">
            <a:extLst>
              <a:ext uri="{FF2B5EF4-FFF2-40B4-BE49-F238E27FC236}">
                <a16:creationId xmlns:a16="http://schemas.microsoft.com/office/drawing/2014/main" id="{DDC08AB0-4AF1-5D2E-F93A-C888A73D5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0320"/>
            <a:ext cx="9230053" cy="37837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C9EF502-288A-6C17-2A8A-6F48F2B0278D}"/>
              </a:ext>
            </a:extLst>
          </p:cNvPr>
          <p:cNvSpPr txBox="1"/>
          <p:nvPr/>
        </p:nvSpPr>
        <p:spPr>
          <a:xfrm>
            <a:off x="651641" y="4614044"/>
            <a:ext cx="10702159" cy="1477328"/>
          </a:xfrm>
          <a:prstGeom prst="rect">
            <a:avLst/>
          </a:prstGeom>
          <a:noFill/>
        </p:spPr>
        <p:txBody>
          <a:bodyPr wrap="square" rtlCol="0">
            <a:spAutoFit/>
          </a:bodyPr>
          <a:lstStyle/>
          <a:p>
            <a:pPr algn="just"/>
            <a:r>
              <a:rPr lang="en-US" sz="1800" b="1" dirty="0"/>
              <a:t>Insights:</a:t>
            </a:r>
          </a:p>
          <a:p>
            <a:pPr algn="just"/>
            <a:r>
              <a:rPr lang="en-US" sz="1800" dirty="0"/>
              <a:t>Apple dominates the premium segment, it has the highest average selling price by a huge margin,</a:t>
            </a:r>
          </a:p>
          <a:p>
            <a:pPr algn="just"/>
            <a:r>
              <a:rPr lang="en-US" sz="1800" dirty="0"/>
              <a:t>This clearly shows Apple’s premium brand positioning and strong pricing power. Samsung &amp; Google sit in the upper-mid to premium range Samsung and Google prices are significantly higher than most Android brands.</a:t>
            </a:r>
            <a:endParaRPr lang="en-IN" sz="1800" dirty="0"/>
          </a:p>
        </p:txBody>
      </p:sp>
      <p:sp>
        <p:nvSpPr>
          <p:cNvPr id="4" name="TextBox 3">
            <a:extLst>
              <a:ext uri="{FF2B5EF4-FFF2-40B4-BE49-F238E27FC236}">
                <a16:creationId xmlns:a16="http://schemas.microsoft.com/office/drawing/2014/main" id="{BCA76403-A50F-EB0B-B989-8A616FB2D900}"/>
              </a:ext>
            </a:extLst>
          </p:cNvPr>
          <p:cNvSpPr txBox="1"/>
          <p:nvPr/>
        </p:nvSpPr>
        <p:spPr>
          <a:xfrm>
            <a:off x="9230053" y="1177158"/>
            <a:ext cx="2522482" cy="2523768"/>
          </a:xfrm>
          <a:prstGeom prst="rect">
            <a:avLst/>
          </a:prstGeom>
          <a:noFill/>
        </p:spPr>
        <p:txBody>
          <a:bodyPr wrap="square" rtlCol="0">
            <a:spAutoFit/>
          </a:bodyPr>
          <a:lstStyle/>
          <a:p>
            <a:r>
              <a:rPr lang="en-US" sz="1800" dirty="0"/>
              <a:t>Poco</a:t>
            </a:r>
          </a:p>
          <a:p>
            <a:r>
              <a:rPr lang="en-US" sz="1800" dirty="0"/>
              <a:t>OnePlus</a:t>
            </a:r>
          </a:p>
          <a:p>
            <a:r>
              <a:rPr lang="en-US" sz="1800" dirty="0" err="1"/>
              <a:t>Iqoo</a:t>
            </a:r>
            <a:endParaRPr lang="en-US" sz="1800" dirty="0"/>
          </a:p>
          <a:p>
            <a:r>
              <a:rPr lang="en-US" sz="1800" dirty="0"/>
              <a:t>Nothing </a:t>
            </a:r>
          </a:p>
          <a:p>
            <a:r>
              <a:rPr lang="en-US" sz="1800" dirty="0" err="1"/>
              <a:t>Infinix</a:t>
            </a:r>
            <a:endParaRPr lang="en-US" sz="1800" dirty="0"/>
          </a:p>
          <a:p>
            <a:endParaRPr lang="en-US" sz="1800" dirty="0"/>
          </a:p>
          <a:p>
            <a:r>
              <a:rPr lang="en-US" sz="1800" b="1" dirty="0"/>
              <a:t>Mostly fall in the ₹20k–₹35k range</a:t>
            </a:r>
            <a:endParaRPr lang="en-US" sz="1800" dirty="0"/>
          </a:p>
          <a:p>
            <a:endParaRPr lang="en-IN" dirty="0"/>
          </a:p>
        </p:txBody>
      </p:sp>
    </p:spTree>
    <p:extLst>
      <p:ext uri="{BB962C8B-B14F-4D97-AF65-F5344CB8AC3E}">
        <p14:creationId xmlns:p14="http://schemas.microsoft.com/office/powerpoint/2010/main" val="3531862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BD37E-DB59-C8F9-E1D0-9817FDBF4EC4}"/>
              </a:ext>
            </a:extLst>
          </p:cNvPr>
          <p:cNvSpPr>
            <a:spLocks noGrp="1"/>
          </p:cNvSpPr>
          <p:nvPr>
            <p:ph type="title"/>
          </p:nvPr>
        </p:nvSpPr>
        <p:spPr>
          <a:xfrm>
            <a:off x="838200" y="365126"/>
            <a:ext cx="10515600" cy="706930"/>
          </a:xfrm>
        </p:spPr>
        <p:txBody>
          <a:bodyPr>
            <a:normAutofit/>
          </a:bodyPr>
          <a:lstStyle/>
          <a:p>
            <a:r>
              <a:rPr lang="en-US" sz="3200" b="1" dirty="0">
                <a:solidFill>
                  <a:srgbClr val="FF0000"/>
                </a:solidFill>
              </a:rPr>
              <a:t>Brand Vs Discount</a:t>
            </a:r>
            <a:endParaRPr lang="en-IN" sz="3200" b="1" dirty="0">
              <a:solidFill>
                <a:srgbClr val="FF0000"/>
              </a:solidFill>
            </a:endParaRPr>
          </a:p>
        </p:txBody>
      </p:sp>
      <p:pic>
        <p:nvPicPr>
          <p:cNvPr id="2050" name="Picture 2">
            <a:extLst>
              <a:ext uri="{FF2B5EF4-FFF2-40B4-BE49-F238E27FC236}">
                <a16:creationId xmlns:a16="http://schemas.microsoft.com/office/drawing/2014/main" id="{BB4AD181-C78D-DB51-0210-D72AEA80C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643" y="1072057"/>
            <a:ext cx="11356757" cy="361555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884DA0D-AD34-4290-379C-C8BC8D852565}"/>
              </a:ext>
            </a:extLst>
          </p:cNvPr>
          <p:cNvSpPr txBox="1"/>
          <p:nvPr/>
        </p:nvSpPr>
        <p:spPr>
          <a:xfrm>
            <a:off x="838200" y="4687615"/>
            <a:ext cx="10218683" cy="1754326"/>
          </a:xfrm>
          <a:prstGeom prst="rect">
            <a:avLst/>
          </a:prstGeom>
          <a:noFill/>
        </p:spPr>
        <p:txBody>
          <a:bodyPr wrap="square" rtlCol="0">
            <a:spAutoFit/>
          </a:bodyPr>
          <a:lstStyle/>
          <a:p>
            <a:r>
              <a:rPr lang="en-US" sz="1800" b="1" dirty="0"/>
              <a:t>Insights :</a:t>
            </a:r>
          </a:p>
          <a:p>
            <a:r>
              <a:rPr lang="en-US" sz="1800" dirty="0"/>
              <a:t>Budget and mid-range brands like Redmi, Realme, Lava, and HMD offer moderate to high discounts.</a:t>
            </a:r>
          </a:p>
          <a:p>
            <a:r>
              <a:rPr lang="en-US" sz="1800" dirty="0"/>
              <a:t>OnePlus, Apple, and Google provide lower discounts, showing strong brand value and less dependence on price cuts.</a:t>
            </a:r>
          </a:p>
          <a:p>
            <a:endParaRPr lang="en-IN" sz="1800" dirty="0"/>
          </a:p>
        </p:txBody>
      </p:sp>
    </p:spTree>
    <p:extLst>
      <p:ext uri="{BB962C8B-B14F-4D97-AF65-F5344CB8AC3E}">
        <p14:creationId xmlns:p14="http://schemas.microsoft.com/office/powerpoint/2010/main" val="2785840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B5282-A88A-79C8-5938-967D4D61EAE1}"/>
              </a:ext>
            </a:extLst>
          </p:cNvPr>
          <p:cNvSpPr>
            <a:spLocks noGrp="1"/>
          </p:cNvSpPr>
          <p:nvPr>
            <p:ph type="title"/>
          </p:nvPr>
        </p:nvSpPr>
        <p:spPr>
          <a:xfrm>
            <a:off x="838200" y="365125"/>
            <a:ext cx="10515600" cy="538765"/>
          </a:xfrm>
        </p:spPr>
        <p:txBody>
          <a:bodyPr>
            <a:normAutofit/>
          </a:bodyPr>
          <a:lstStyle/>
          <a:p>
            <a:r>
              <a:rPr lang="en-US" sz="3200" b="1" dirty="0">
                <a:solidFill>
                  <a:srgbClr val="FF0000"/>
                </a:solidFill>
              </a:rPr>
              <a:t>Brand Vs ROM(Storage)</a:t>
            </a:r>
            <a:endParaRPr lang="en-IN" sz="3200" b="1" dirty="0">
              <a:solidFill>
                <a:srgbClr val="FF0000"/>
              </a:solidFill>
            </a:endParaRPr>
          </a:p>
        </p:txBody>
      </p:sp>
      <p:pic>
        <p:nvPicPr>
          <p:cNvPr id="3074" name="Picture 2">
            <a:extLst>
              <a:ext uri="{FF2B5EF4-FFF2-40B4-BE49-F238E27FC236}">
                <a16:creationId xmlns:a16="http://schemas.microsoft.com/office/drawing/2014/main" id="{E4B2F40E-8349-671A-CD8A-BF25D209A4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268" y="903890"/>
            <a:ext cx="11740055" cy="351045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8CF8411-81F0-0585-40C3-6B4A8EB52CD2}"/>
              </a:ext>
            </a:extLst>
          </p:cNvPr>
          <p:cNvSpPr txBox="1"/>
          <p:nvPr/>
        </p:nvSpPr>
        <p:spPr>
          <a:xfrm>
            <a:off x="838200" y="4498428"/>
            <a:ext cx="10515600" cy="2062103"/>
          </a:xfrm>
          <a:prstGeom prst="rect">
            <a:avLst/>
          </a:prstGeom>
          <a:noFill/>
        </p:spPr>
        <p:txBody>
          <a:bodyPr wrap="square" rtlCol="0">
            <a:spAutoFit/>
          </a:bodyPr>
          <a:lstStyle/>
          <a:p>
            <a:r>
              <a:rPr lang="en-US" sz="1800" b="1" dirty="0"/>
              <a:t>Insights :</a:t>
            </a:r>
          </a:p>
          <a:p>
            <a:pPr marL="285750" indent="-285750">
              <a:buFont typeface="Arial" panose="020B0604020202020204" pitchFamily="34" charset="0"/>
              <a:buChar char="•"/>
            </a:pPr>
            <a:r>
              <a:rPr lang="en-US" sz="1600" dirty="0"/>
              <a:t>Apple and Nothing offer phones with the highest ROM options, including very high storage variants.</a:t>
            </a:r>
          </a:p>
          <a:p>
            <a:pPr marL="285750" indent="-285750">
              <a:buFont typeface="Arial" panose="020B0604020202020204" pitchFamily="34" charset="0"/>
              <a:buChar char="•"/>
            </a:pPr>
            <a:r>
              <a:rPr lang="en-US" sz="1600" dirty="0"/>
              <a:t>Samsung, Motorola, Oppo, Vivo, and Poco provide a wide range of ROM, showing multiple models at different storage levels.</a:t>
            </a:r>
          </a:p>
          <a:p>
            <a:pPr marL="285750" indent="-285750">
              <a:buFont typeface="Arial" panose="020B0604020202020204" pitchFamily="34" charset="0"/>
              <a:buChar char="•"/>
            </a:pPr>
            <a:r>
              <a:rPr lang="en-US" sz="1600" dirty="0"/>
              <a:t>Redmi, Realme, HMD, and mostly have fixed or limited ROM options, usually in lower storage ranges.</a:t>
            </a:r>
          </a:p>
          <a:p>
            <a:pPr marL="285750" indent="-285750">
              <a:buFont typeface="Arial" panose="020B0604020202020204" pitchFamily="34" charset="0"/>
              <a:buChar char="•"/>
            </a:pPr>
            <a:r>
              <a:rPr lang="en-US" sz="1600" dirty="0"/>
              <a:t>Budget brands like Lava, Sia, and Ai mainly offer lower ROM, suitable for basic users.</a:t>
            </a:r>
          </a:p>
          <a:p>
            <a:pPr marL="285750" indent="-285750">
              <a:buFont typeface="Arial" panose="020B0604020202020204" pitchFamily="34" charset="0"/>
              <a:buChar char="•"/>
            </a:pPr>
            <a:r>
              <a:rPr lang="en-US" sz="1600" dirty="0"/>
              <a:t>Google and CMF focus on mid-level ROM, with fewer variations.</a:t>
            </a:r>
          </a:p>
          <a:p>
            <a:endParaRPr lang="en-IN" dirty="0"/>
          </a:p>
        </p:txBody>
      </p:sp>
    </p:spTree>
    <p:extLst>
      <p:ext uri="{BB962C8B-B14F-4D97-AF65-F5344CB8AC3E}">
        <p14:creationId xmlns:p14="http://schemas.microsoft.com/office/powerpoint/2010/main" val="195741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78848-413B-9252-3E7A-763DF0A1DD01}"/>
              </a:ext>
            </a:extLst>
          </p:cNvPr>
          <p:cNvSpPr>
            <a:spLocks noGrp="1"/>
          </p:cNvSpPr>
          <p:nvPr>
            <p:ph type="title"/>
          </p:nvPr>
        </p:nvSpPr>
        <p:spPr>
          <a:xfrm>
            <a:off x="838200" y="365126"/>
            <a:ext cx="10515600" cy="654378"/>
          </a:xfrm>
        </p:spPr>
        <p:txBody>
          <a:bodyPr>
            <a:normAutofit/>
          </a:bodyPr>
          <a:lstStyle/>
          <a:p>
            <a:r>
              <a:rPr lang="en-US" sz="3600" b="1" dirty="0">
                <a:solidFill>
                  <a:srgbClr val="FF0000"/>
                </a:solidFill>
              </a:rPr>
              <a:t>Category Distribution Of Mobiles</a:t>
            </a:r>
            <a:endParaRPr lang="en-IN" sz="3600" b="1" dirty="0">
              <a:solidFill>
                <a:srgbClr val="FF0000"/>
              </a:solidFill>
            </a:endParaRPr>
          </a:p>
        </p:txBody>
      </p:sp>
      <p:pic>
        <p:nvPicPr>
          <p:cNvPr id="4098" name="Picture 2">
            <a:extLst>
              <a:ext uri="{FF2B5EF4-FFF2-40B4-BE49-F238E27FC236}">
                <a16:creationId xmlns:a16="http://schemas.microsoft.com/office/drawing/2014/main" id="{6130A415-1D59-560D-2CF9-F66D3D5CB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726" y="1156138"/>
            <a:ext cx="5565391" cy="480322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B2B08D6-94EC-4A63-6E98-C383BE9EE472}"/>
              </a:ext>
            </a:extLst>
          </p:cNvPr>
          <p:cNvSpPr txBox="1"/>
          <p:nvPr/>
        </p:nvSpPr>
        <p:spPr>
          <a:xfrm>
            <a:off x="6547945" y="1240221"/>
            <a:ext cx="4992414" cy="4001095"/>
          </a:xfrm>
          <a:prstGeom prst="rect">
            <a:avLst/>
          </a:prstGeom>
          <a:noFill/>
        </p:spPr>
        <p:txBody>
          <a:bodyPr wrap="square" rtlCol="0">
            <a:spAutoFit/>
          </a:bodyPr>
          <a:lstStyle/>
          <a:p>
            <a:r>
              <a:rPr lang="en-US" sz="2000" b="1" dirty="0"/>
              <a:t>Insights</a:t>
            </a:r>
          </a:p>
          <a:p>
            <a:pPr marL="342900" indent="-342900">
              <a:buFont typeface="Arial" panose="020B0604020202020204" pitchFamily="34" charset="0"/>
              <a:buChar char="•"/>
            </a:pPr>
            <a:r>
              <a:rPr lang="en-US" sz="2000" dirty="0"/>
              <a:t>Most phones are Budget category (69.7%), showing the market mainly focuses on low-price customers.</a:t>
            </a:r>
          </a:p>
          <a:p>
            <a:endParaRPr lang="en-US" sz="2000" dirty="0"/>
          </a:p>
          <a:p>
            <a:pPr marL="342900" indent="-342900">
              <a:buFont typeface="Arial" panose="020B0604020202020204" pitchFamily="34" charset="0"/>
              <a:buChar char="•"/>
            </a:pPr>
            <a:r>
              <a:rPr lang="en-US" sz="2000" dirty="0"/>
              <a:t>Premium phones form a smaller share (19.8%), targeting users who want better features and performance.</a:t>
            </a:r>
          </a:p>
          <a:p>
            <a:endParaRPr lang="en-US" sz="2000" dirty="0"/>
          </a:p>
          <a:p>
            <a:pPr marL="342900" indent="-342900">
              <a:buFont typeface="Arial" panose="020B0604020202020204" pitchFamily="34" charset="0"/>
              <a:buChar char="•"/>
            </a:pPr>
            <a:r>
              <a:rPr lang="en-US" sz="2000" dirty="0"/>
              <a:t>Luxury phones are very few (10.4%), indicating a niche market with limited demand.</a:t>
            </a:r>
          </a:p>
          <a:p>
            <a:endParaRPr lang="en-IN" dirty="0"/>
          </a:p>
        </p:txBody>
      </p:sp>
    </p:spTree>
    <p:extLst>
      <p:ext uri="{BB962C8B-B14F-4D97-AF65-F5344CB8AC3E}">
        <p14:creationId xmlns:p14="http://schemas.microsoft.com/office/powerpoint/2010/main" val="2404995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E2369-7E37-D530-0ACB-0375A19D4C22}"/>
              </a:ext>
            </a:extLst>
          </p:cNvPr>
          <p:cNvSpPr>
            <a:spLocks noGrp="1"/>
          </p:cNvSpPr>
          <p:nvPr>
            <p:ph type="title"/>
          </p:nvPr>
        </p:nvSpPr>
        <p:spPr>
          <a:xfrm>
            <a:off x="838200" y="365125"/>
            <a:ext cx="10515600" cy="612337"/>
          </a:xfrm>
        </p:spPr>
        <p:txBody>
          <a:bodyPr>
            <a:normAutofit/>
          </a:bodyPr>
          <a:lstStyle/>
          <a:p>
            <a:r>
              <a:rPr lang="en-US" sz="3200" b="1" dirty="0">
                <a:solidFill>
                  <a:srgbClr val="FF0000"/>
                </a:solidFill>
              </a:rPr>
              <a:t>Selling Price Vs MRP Price </a:t>
            </a:r>
            <a:endParaRPr lang="en-IN" sz="3200" b="1" dirty="0">
              <a:solidFill>
                <a:srgbClr val="FF0000"/>
              </a:solidFill>
            </a:endParaRPr>
          </a:p>
        </p:txBody>
      </p:sp>
      <p:pic>
        <p:nvPicPr>
          <p:cNvPr id="5122" name="Picture 2">
            <a:extLst>
              <a:ext uri="{FF2B5EF4-FFF2-40B4-BE49-F238E27FC236}">
                <a16:creationId xmlns:a16="http://schemas.microsoft.com/office/drawing/2014/main" id="{CC5065AD-F65F-CBFC-C90C-FC01C259FC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16" y="977462"/>
            <a:ext cx="6211284" cy="488731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251013F-D6AA-F3DB-9BE8-C7D4FE3DEC5C}"/>
              </a:ext>
            </a:extLst>
          </p:cNvPr>
          <p:cNvSpPr txBox="1"/>
          <p:nvPr/>
        </p:nvSpPr>
        <p:spPr>
          <a:xfrm>
            <a:off x="6558455" y="1450428"/>
            <a:ext cx="5265683" cy="2554545"/>
          </a:xfrm>
          <a:prstGeom prst="rect">
            <a:avLst/>
          </a:prstGeom>
          <a:noFill/>
        </p:spPr>
        <p:txBody>
          <a:bodyPr wrap="square" rtlCol="0">
            <a:spAutoFit/>
          </a:bodyPr>
          <a:lstStyle/>
          <a:p>
            <a:r>
              <a:rPr lang="en-US" sz="2000" b="1" dirty="0"/>
              <a:t>Insight :</a:t>
            </a:r>
          </a:p>
          <a:p>
            <a:r>
              <a:rPr lang="en-US" sz="2000" dirty="0"/>
              <a:t>Selling price and MRP move together, showing a strong positive relationship, Most phones are in the budget and mid-price range, clustered at lower values, High-priced phones are fewer and appear at the top-right of the chart.</a:t>
            </a:r>
          </a:p>
          <a:p>
            <a:endParaRPr lang="en-IN" sz="2000" b="1" dirty="0"/>
          </a:p>
        </p:txBody>
      </p:sp>
    </p:spTree>
    <p:extLst>
      <p:ext uri="{BB962C8B-B14F-4D97-AF65-F5344CB8AC3E}">
        <p14:creationId xmlns:p14="http://schemas.microsoft.com/office/powerpoint/2010/main" val="369874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2963E-7324-1AC4-689E-D925DAA878BF}"/>
              </a:ext>
            </a:extLst>
          </p:cNvPr>
          <p:cNvSpPr>
            <a:spLocks noGrp="1"/>
          </p:cNvSpPr>
          <p:nvPr>
            <p:ph type="title"/>
          </p:nvPr>
        </p:nvSpPr>
        <p:spPr>
          <a:xfrm>
            <a:off x="838200" y="365126"/>
            <a:ext cx="10515600" cy="528254"/>
          </a:xfrm>
        </p:spPr>
        <p:txBody>
          <a:bodyPr>
            <a:normAutofit fontScale="90000"/>
          </a:bodyPr>
          <a:lstStyle/>
          <a:p>
            <a:r>
              <a:rPr lang="en-US" sz="3200" b="1" dirty="0">
                <a:solidFill>
                  <a:srgbClr val="FF0000"/>
                </a:solidFill>
              </a:rPr>
              <a:t>Selling Price Vs ROM(Storage)</a:t>
            </a:r>
            <a:endParaRPr lang="en-IN" sz="3200" b="1" dirty="0">
              <a:solidFill>
                <a:srgbClr val="FF0000"/>
              </a:solidFill>
            </a:endParaRPr>
          </a:p>
        </p:txBody>
      </p:sp>
      <p:pic>
        <p:nvPicPr>
          <p:cNvPr id="6146" name="Picture 2">
            <a:extLst>
              <a:ext uri="{FF2B5EF4-FFF2-40B4-BE49-F238E27FC236}">
                <a16:creationId xmlns:a16="http://schemas.microsoft.com/office/drawing/2014/main" id="{891FEBEC-17A1-088C-BCA0-ABAC63F97E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 y="977298"/>
            <a:ext cx="5695950" cy="50241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025C76B-C523-1D42-D51C-AD2D524612A4}"/>
              </a:ext>
            </a:extLst>
          </p:cNvPr>
          <p:cNvSpPr txBox="1"/>
          <p:nvPr/>
        </p:nvSpPr>
        <p:spPr>
          <a:xfrm>
            <a:off x="6379779" y="1072055"/>
            <a:ext cx="5507421" cy="5016758"/>
          </a:xfrm>
          <a:prstGeom prst="rect">
            <a:avLst/>
          </a:prstGeom>
          <a:noFill/>
        </p:spPr>
        <p:txBody>
          <a:bodyPr wrap="square" rtlCol="0">
            <a:spAutoFit/>
          </a:bodyPr>
          <a:lstStyle/>
          <a:p>
            <a:r>
              <a:rPr lang="en-US" sz="2000" b="1" dirty="0"/>
              <a:t>Insight :</a:t>
            </a:r>
          </a:p>
          <a:p>
            <a:pPr marL="342900" indent="-342900">
              <a:buFont typeface="Arial" panose="020B0604020202020204" pitchFamily="34" charset="0"/>
              <a:buChar char="•"/>
            </a:pPr>
            <a:r>
              <a:rPr lang="en-US" sz="2000" dirty="0"/>
              <a:t>Phones with higher ROM generally have higher prices, but the relationship is not perfectly linear.</a:t>
            </a:r>
          </a:p>
          <a:p>
            <a:endParaRPr lang="en-US" sz="2000" dirty="0"/>
          </a:p>
          <a:p>
            <a:pPr marL="342900" indent="-342900">
              <a:buFont typeface="Arial" panose="020B0604020202020204" pitchFamily="34" charset="0"/>
              <a:buChar char="•"/>
            </a:pPr>
            <a:r>
              <a:rPr lang="en-US" sz="2000" dirty="0"/>
              <a:t>For the same ROM size, prices vary a lot, showing that brand and features also affect price.</a:t>
            </a:r>
          </a:p>
          <a:p>
            <a:endParaRPr lang="en-US" sz="2000" dirty="0"/>
          </a:p>
          <a:p>
            <a:pPr marL="342900" indent="-342900">
              <a:buFont typeface="Arial" panose="020B0604020202020204" pitchFamily="34" charset="0"/>
              <a:buChar char="•"/>
            </a:pPr>
            <a:r>
              <a:rPr lang="en-US" sz="2000" dirty="0"/>
              <a:t>Most phones are clustered around 128 GB and 256 GB ROM, indicating these are the most common options.</a:t>
            </a:r>
          </a:p>
          <a:p>
            <a:endParaRPr lang="en-US" sz="2000" dirty="0"/>
          </a:p>
          <a:p>
            <a:pPr marL="342900" indent="-342900">
              <a:buFont typeface="Arial" panose="020B0604020202020204" pitchFamily="34" charset="0"/>
              <a:buChar char="•"/>
            </a:pPr>
            <a:r>
              <a:rPr lang="en-US" sz="2000" dirty="0"/>
              <a:t>Very high-priced phones exist at higher ROM levels, but they are fewer in number.</a:t>
            </a:r>
          </a:p>
          <a:p>
            <a:endParaRPr lang="en-IN" sz="2000" dirty="0"/>
          </a:p>
        </p:txBody>
      </p:sp>
    </p:spTree>
    <p:extLst>
      <p:ext uri="{BB962C8B-B14F-4D97-AF65-F5344CB8AC3E}">
        <p14:creationId xmlns:p14="http://schemas.microsoft.com/office/powerpoint/2010/main" val="1293669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8C4F8-A44C-7F80-9EEE-2CAD5CB5C431}"/>
              </a:ext>
            </a:extLst>
          </p:cNvPr>
          <p:cNvSpPr>
            <a:spLocks noGrp="1"/>
          </p:cNvSpPr>
          <p:nvPr>
            <p:ph type="title"/>
          </p:nvPr>
        </p:nvSpPr>
        <p:spPr>
          <a:xfrm>
            <a:off x="838200" y="365126"/>
            <a:ext cx="10515600" cy="643868"/>
          </a:xfrm>
        </p:spPr>
        <p:txBody>
          <a:bodyPr>
            <a:normAutofit fontScale="90000"/>
          </a:bodyPr>
          <a:lstStyle/>
          <a:p>
            <a:r>
              <a:rPr lang="en-US" b="1" dirty="0">
                <a:solidFill>
                  <a:srgbClr val="FF0000"/>
                </a:solidFill>
              </a:rPr>
              <a:t>Hypothesis Testing</a:t>
            </a:r>
            <a:endParaRPr lang="en-IN" b="1" dirty="0">
              <a:solidFill>
                <a:srgbClr val="FF0000"/>
              </a:solidFill>
            </a:endParaRPr>
          </a:p>
        </p:txBody>
      </p:sp>
      <p:pic>
        <p:nvPicPr>
          <p:cNvPr id="8194" name="Picture 2">
            <a:extLst>
              <a:ext uri="{FF2B5EF4-FFF2-40B4-BE49-F238E27FC236}">
                <a16:creationId xmlns:a16="http://schemas.microsoft.com/office/drawing/2014/main" id="{B4FFFB74-7326-83EB-0711-F93D7F7425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091" y="1271588"/>
            <a:ext cx="5496910" cy="484543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97774D4-6DA0-B954-275C-D28C487FDCA2}"/>
              </a:ext>
            </a:extLst>
          </p:cNvPr>
          <p:cNvSpPr txBox="1"/>
          <p:nvPr/>
        </p:nvSpPr>
        <p:spPr>
          <a:xfrm>
            <a:off x="6369269" y="1671145"/>
            <a:ext cx="4984531" cy="2554545"/>
          </a:xfrm>
          <a:prstGeom prst="rect">
            <a:avLst/>
          </a:prstGeom>
          <a:noFill/>
        </p:spPr>
        <p:txBody>
          <a:bodyPr wrap="square" rtlCol="0">
            <a:spAutoFit/>
          </a:bodyPr>
          <a:lstStyle/>
          <a:p>
            <a:r>
              <a:rPr lang="en-US" sz="2000" dirty="0"/>
              <a:t>Do mobiles with higher storage (ROM) have higher selling prices?</a:t>
            </a:r>
          </a:p>
          <a:p>
            <a:endParaRPr lang="en-US" sz="2000" dirty="0"/>
          </a:p>
          <a:p>
            <a:r>
              <a:rPr lang="en-US" sz="2000" b="1" dirty="0"/>
              <a:t>Conclusion :</a:t>
            </a:r>
          </a:p>
          <a:p>
            <a:endParaRPr lang="en-US" sz="2000" b="1" dirty="0"/>
          </a:p>
          <a:p>
            <a:r>
              <a:rPr lang="en-US" sz="2000" b="1" dirty="0"/>
              <a:t>Reject Null Hypothesis : ROM impacts selling price</a:t>
            </a:r>
          </a:p>
          <a:p>
            <a:endParaRPr lang="en-IN" sz="2000" b="1" dirty="0"/>
          </a:p>
        </p:txBody>
      </p:sp>
    </p:spTree>
    <p:extLst>
      <p:ext uri="{BB962C8B-B14F-4D97-AF65-F5344CB8AC3E}">
        <p14:creationId xmlns:p14="http://schemas.microsoft.com/office/powerpoint/2010/main" val="1075649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98F8F-0117-E762-A268-222592552BA0}"/>
              </a:ext>
            </a:extLst>
          </p:cNvPr>
          <p:cNvSpPr>
            <a:spLocks noGrp="1"/>
          </p:cNvSpPr>
          <p:nvPr>
            <p:ph type="title"/>
          </p:nvPr>
        </p:nvSpPr>
        <p:spPr>
          <a:xfrm>
            <a:off x="838200" y="365125"/>
            <a:ext cx="10515600" cy="649122"/>
          </a:xfrm>
        </p:spPr>
        <p:txBody>
          <a:bodyPr>
            <a:normAutofit fontScale="90000"/>
          </a:bodyPr>
          <a:lstStyle/>
          <a:p>
            <a:r>
              <a:rPr lang="en-US" b="1" dirty="0">
                <a:solidFill>
                  <a:srgbClr val="FF0000"/>
                </a:solidFill>
              </a:rPr>
              <a:t>Hypothesis Testing</a:t>
            </a:r>
            <a:endParaRPr lang="en-IN" dirty="0"/>
          </a:p>
        </p:txBody>
      </p:sp>
      <p:pic>
        <p:nvPicPr>
          <p:cNvPr id="9218" name="Picture 2">
            <a:extLst>
              <a:ext uri="{FF2B5EF4-FFF2-40B4-BE49-F238E27FC236}">
                <a16:creationId xmlns:a16="http://schemas.microsoft.com/office/drawing/2014/main" id="{FE634C87-794B-7208-8EFB-F1E9C98D73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5629"/>
            <a:ext cx="8534400" cy="469812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AB8A3EA-1436-F82D-40C1-779965154D6E}"/>
              </a:ext>
            </a:extLst>
          </p:cNvPr>
          <p:cNvSpPr txBox="1"/>
          <p:nvPr/>
        </p:nvSpPr>
        <p:spPr>
          <a:xfrm>
            <a:off x="8713076" y="1471448"/>
            <a:ext cx="2963917" cy="3077766"/>
          </a:xfrm>
          <a:prstGeom prst="rect">
            <a:avLst/>
          </a:prstGeom>
          <a:noFill/>
        </p:spPr>
        <p:txBody>
          <a:bodyPr wrap="square" rtlCol="0">
            <a:spAutoFit/>
          </a:bodyPr>
          <a:lstStyle/>
          <a:p>
            <a:r>
              <a:rPr lang="en-US" sz="2000" dirty="0"/>
              <a:t>Does mobile phone price vary significantly across brands?</a:t>
            </a:r>
          </a:p>
          <a:p>
            <a:endParaRPr lang="en-US" sz="2000" dirty="0"/>
          </a:p>
          <a:p>
            <a:r>
              <a:rPr lang="en-US" sz="2000" b="1" dirty="0"/>
              <a:t>Conclusions :</a:t>
            </a:r>
          </a:p>
          <a:p>
            <a:endParaRPr lang="en-US" sz="2000" b="1" dirty="0"/>
          </a:p>
          <a:p>
            <a:r>
              <a:rPr lang="en-US" sz="1800" b="1" dirty="0"/>
              <a:t>Reject Null Hypothesis : Brand significantly impacts price</a:t>
            </a:r>
          </a:p>
          <a:p>
            <a:endParaRPr lang="en-IN" sz="2000" b="1" dirty="0"/>
          </a:p>
        </p:txBody>
      </p:sp>
    </p:spTree>
    <p:extLst>
      <p:ext uri="{BB962C8B-B14F-4D97-AF65-F5344CB8AC3E}">
        <p14:creationId xmlns:p14="http://schemas.microsoft.com/office/powerpoint/2010/main" val="1835163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2AFA0-C95D-17B7-BEBF-A737869388E3}"/>
              </a:ext>
            </a:extLst>
          </p:cNvPr>
          <p:cNvSpPr>
            <a:spLocks noGrp="1"/>
          </p:cNvSpPr>
          <p:nvPr>
            <p:ph type="title"/>
          </p:nvPr>
        </p:nvSpPr>
        <p:spPr>
          <a:xfrm>
            <a:off x="838200" y="365126"/>
            <a:ext cx="10515600" cy="507233"/>
          </a:xfrm>
        </p:spPr>
        <p:txBody>
          <a:bodyPr>
            <a:noAutofit/>
          </a:bodyPr>
          <a:lstStyle/>
          <a:p>
            <a:r>
              <a:rPr lang="en-IN" sz="3600" b="1" dirty="0">
                <a:solidFill>
                  <a:srgbClr val="FF0000"/>
                </a:solidFill>
              </a:rPr>
              <a:t>Recommendations</a:t>
            </a:r>
          </a:p>
        </p:txBody>
      </p:sp>
      <p:sp>
        <p:nvSpPr>
          <p:cNvPr id="3" name="TextBox 2">
            <a:extLst>
              <a:ext uri="{FF2B5EF4-FFF2-40B4-BE49-F238E27FC236}">
                <a16:creationId xmlns:a16="http://schemas.microsoft.com/office/drawing/2014/main" id="{E1288B81-4ED0-91B5-140D-BAA3EC71A217}"/>
              </a:ext>
            </a:extLst>
          </p:cNvPr>
          <p:cNvSpPr txBox="1"/>
          <p:nvPr/>
        </p:nvSpPr>
        <p:spPr>
          <a:xfrm>
            <a:off x="1019503" y="1334814"/>
            <a:ext cx="9963807"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t>Focus on optimizing specifications rather than only increasing prices.</a:t>
            </a:r>
          </a:p>
          <a:p>
            <a:endParaRPr lang="en-US" sz="2000" dirty="0"/>
          </a:p>
          <a:p>
            <a:pPr marL="342900" indent="-342900">
              <a:buFont typeface="Arial" panose="020B0604020202020204" pitchFamily="34" charset="0"/>
              <a:buChar char="•"/>
            </a:pPr>
            <a:r>
              <a:rPr lang="en-US" sz="2000" dirty="0"/>
              <a:t>Mid-range phones with strong processors and balanced features have the highest demand.</a:t>
            </a:r>
          </a:p>
          <a:p>
            <a:endParaRPr lang="en-US" sz="2000" dirty="0"/>
          </a:p>
          <a:p>
            <a:pPr marL="342900" indent="-342900">
              <a:buFont typeface="Arial" panose="020B0604020202020204" pitchFamily="34" charset="0"/>
              <a:buChar char="•"/>
            </a:pPr>
            <a:r>
              <a:rPr lang="en-US" sz="2000" dirty="0"/>
              <a:t>Improve transparency in specifications to attract informed customers.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Promote phones with high performance at lower prices to boost conversions.</a:t>
            </a:r>
          </a:p>
          <a:p>
            <a:endParaRPr lang="en-US" sz="2000" dirty="0"/>
          </a:p>
          <a:p>
            <a:pPr marL="342900" indent="-342900">
              <a:buFont typeface="Arial" panose="020B0604020202020204" pitchFamily="34" charset="0"/>
              <a:buChar char="•"/>
            </a:pPr>
            <a:r>
              <a:rPr lang="en-US" sz="2000" dirty="0"/>
              <a:t>Customers should compare phones based on specifications and value, not just brand.</a:t>
            </a:r>
          </a:p>
          <a:p>
            <a:endParaRPr lang="en-US" sz="2000" dirty="0"/>
          </a:p>
          <a:p>
            <a:pPr marL="342900" indent="-342900">
              <a:buFont typeface="Arial" panose="020B0604020202020204" pitchFamily="34" charset="0"/>
              <a:buChar char="•"/>
            </a:pPr>
            <a:r>
              <a:rPr lang="en-US" sz="2000" dirty="0"/>
              <a:t>Mid-range smartphones often deliver near-flagship performance at a much lower cost.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endParaRPr lang="en-IN" sz="2000" dirty="0"/>
          </a:p>
        </p:txBody>
      </p:sp>
    </p:spTree>
    <p:extLst>
      <p:ext uri="{BB962C8B-B14F-4D97-AF65-F5344CB8AC3E}">
        <p14:creationId xmlns:p14="http://schemas.microsoft.com/office/powerpoint/2010/main" val="821751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16F7B-D044-4C02-778A-2B3FFA28C890}"/>
              </a:ext>
            </a:extLst>
          </p:cNvPr>
          <p:cNvSpPr>
            <a:spLocks noGrp="1"/>
          </p:cNvSpPr>
          <p:nvPr>
            <p:ph type="title"/>
          </p:nvPr>
        </p:nvSpPr>
        <p:spPr>
          <a:xfrm>
            <a:off x="838200" y="365125"/>
            <a:ext cx="10515600" cy="664889"/>
          </a:xfrm>
        </p:spPr>
        <p:txBody>
          <a:bodyPr>
            <a:normAutofit/>
          </a:bodyPr>
          <a:lstStyle/>
          <a:p>
            <a:r>
              <a:rPr lang="en-US" sz="3600" b="1" dirty="0">
                <a:solidFill>
                  <a:srgbClr val="FF0000"/>
                </a:solidFill>
              </a:rPr>
              <a:t>Conclusions :</a:t>
            </a:r>
            <a:endParaRPr lang="en-IN" sz="3600" b="1" dirty="0">
              <a:solidFill>
                <a:srgbClr val="FF0000"/>
              </a:solidFill>
            </a:endParaRPr>
          </a:p>
        </p:txBody>
      </p:sp>
      <p:sp>
        <p:nvSpPr>
          <p:cNvPr id="3" name="TextBox 2">
            <a:extLst>
              <a:ext uri="{FF2B5EF4-FFF2-40B4-BE49-F238E27FC236}">
                <a16:creationId xmlns:a16="http://schemas.microsoft.com/office/drawing/2014/main" id="{DA72316D-A6A3-95D7-7308-850F32BB483D}"/>
              </a:ext>
            </a:extLst>
          </p:cNvPr>
          <p:cNvSpPr txBox="1"/>
          <p:nvPr/>
        </p:nvSpPr>
        <p:spPr>
          <a:xfrm>
            <a:off x="838200" y="1124607"/>
            <a:ext cx="10515600" cy="4801314"/>
          </a:xfrm>
          <a:prstGeom prst="rect">
            <a:avLst/>
          </a:prstGeom>
          <a:noFill/>
        </p:spPr>
        <p:txBody>
          <a:bodyPr wrap="square" rtlCol="0">
            <a:spAutoFit/>
          </a:bodyPr>
          <a:lstStyle/>
          <a:p>
            <a:pPr marL="285750" indent="-285750">
              <a:buFont typeface="Arial" panose="020B0604020202020204" pitchFamily="34" charset="0"/>
              <a:buChar char="•"/>
            </a:pPr>
            <a:r>
              <a:rPr lang="en-US" sz="1800" dirty="0"/>
              <a:t>The smartphone market is dominated by budget and mid-range phones, with most devices priced below ₹30,000.</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Brand plays a major role in pricing, where Apple clearly dominates the premium segment, while brands like Redmi, Realme, Poco, and </a:t>
            </a:r>
            <a:r>
              <a:rPr lang="en-US" sz="1800" dirty="0" err="1"/>
              <a:t>iQOO</a:t>
            </a:r>
            <a:r>
              <a:rPr lang="en-US" sz="1800" dirty="0"/>
              <a:t> focus on value-for-money models.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Selling prices are consistently lower than MRP, proving that discounts significantly influence final customer purchase decisions.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Phones with higher ROM generally cost more, but price differences also depend heavily on brand positioning and additional features.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Discount strategies vary by brand: budget brands offer higher discounts, while premium brands rely less on price cuts due to strong brand value.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Statistical tests (T-test and ANOVA) confirm that brand and storage capacity have a significant impact on smartphone pricing.</a:t>
            </a:r>
            <a:endParaRPr lang="en-IN" sz="1800" dirty="0"/>
          </a:p>
        </p:txBody>
      </p:sp>
    </p:spTree>
    <p:extLst>
      <p:ext uri="{BB962C8B-B14F-4D97-AF65-F5344CB8AC3E}">
        <p14:creationId xmlns:p14="http://schemas.microsoft.com/office/powerpoint/2010/main" val="12191955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8DC603-9F70-5245-BF95-C27AEDED0167}"/>
              </a:ext>
            </a:extLst>
          </p:cNvPr>
          <p:cNvSpPr txBox="1"/>
          <p:nvPr/>
        </p:nvSpPr>
        <p:spPr>
          <a:xfrm>
            <a:off x="1093693" y="403412"/>
            <a:ext cx="9287436" cy="3908762"/>
          </a:xfrm>
          <a:prstGeom prst="rect">
            <a:avLst/>
          </a:prstGeom>
          <a:noFill/>
        </p:spPr>
        <p:txBody>
          <a:bodyPr wrap="square" rtlCol="0">
            <a:spAutoFit/>
          </a:bodyPr>
          <a:lstStyle/>
          <a:p>
            <a:pPr algn="ctr"/>
            <a:endParaRPr lang="en-US" sz="4400" dirty="0">
              <a:latin typeface="Arial Black" panose="020B0A04020102020204" pitchFamily="34" charset="0"/>
            </a:endParaRPr>
          </a:p>
          <a:p>
            <a:pPr algn="ctr"/>
            <a:endParaRPr lang="en-US" sz="4400" dirty="0">
              <a:latin typeface="Arial Black" panose="020B0A04020102020204" pitchFamily="34" charset="0"/>
            </a:endParaRPr>
          </a:p>
          <a:p>
            <a:pPr algn="ctr"/>
            <a:r>
              <a:rPr lang="en-US" sz="8000" dirty="0">
                <a:solidFill>
                  <a:srgbClr val="C00000"/>
                </a:solidFill>
                <a:latin typeface="Arial Black" panose="020B0A04020102020204" pitchFamily="34" charset="0"/>
              </a:rPr>
              <a:t>   Any</a:t>
            </a:r>
            <a:br>
              <a:rPr lang="en-US" sz="8000" dirty="0">
                <a:solidFill>
                  <a:srgbClr val="C00000"/>
                </a:solidFill>
                <a:latin typeface="Arial Black" panose="020B0A04020102020204" pitchFamily="34" charset="0"/>
              </a:rPr>
            </a:br>
            <a:r>
              <a:rPr lang="en-US" sz="8000" dirty="0">
                <a:solidFill>
                  <a:srgbClr val="C00000"/>
                </a:solidFill>
                <a:latin typeface="Arial Black" panose="020B0A04020102020204" pitchFamily="34" charset="0"/>
              </a:rPr>
              <a:t>    Questions?</a:t>
            </a:r>
            <a:endParaRPr lang="en-IN" sz="8000" dirty="0">
              <a:solidFill>
                <a:srgbClr val="C00000"/>
              </a:solidFill>
              <a:latin typeface="Arial Black" panose="020B0A04020102020204" pitchFamily="34" charset="0"/>
            </a:endParaRPr>
          </a:p>
        </p:txBody>
      </p:sp>
    </p:spTree>
    <p:extLst>
      <p:ext uri="{BB962C8B-B14F-4D97-AF65-F5344CB8AC3E}">
        <p14:creationId xmlns:p14="http://schemas.microsoft.com/office/powerpoint/2010/main" val="1589815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1518</TotalTime>
  <Words>1466</Words>
  <Application>Microsoft Office PowerPoint</Application>
  <PresentationFormat>Widescreen</PresentationFormat>
  <Paragraphs>191</Paragraphs>
  <Slides>24</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Calibri</vt:lpstr>
      <vt:lpstr>Arial</vt:lpstr>
      <vt:lpstr>Libre Baskerville</vt:lpstr>
      <vt:lpstr>Segoe UI Semibold</vt:lpstr>
      <vt:lpstr>Arial Black</vt:lpstr>
      <vt:lpstr>Algerian</vt:lpstr>
      <vt:lpstr>Office Theme</vt:lpstr>
      <vt:lpstr>PowerPoint Presentation</vt:lpstr>
      <vt:lpstr>PowerPoint Presentation</vt:lpstr>
      <vt:lpstr>Agenda   </vt:lpstr>
      <vt:lpstr>  Introduction</vt:lpstr>
      <vt:lpstr>  Business Problem </vt:lpstr>
      <vt:lpstr>Web Scrapping - Details</vt:lpstr>
      <vt:lpstr>Simple Description of Column in Dataset</vt:lpstr>
      <vt:lpstr>Data Cleaning &amp; Manipulation :</vt:lpstr>
      <vt:lpstr>Univariate Analysis</vt:lpstr>
      <vt:lpstr>MRP Price Distribution</vt:lpstr>
      <vt:lpstr>Selling Price Distribution Of Mobile </vt:lpstr>
      <vt:lpstr>Distribution of Discounts on Mobile Phones</vt:lpstr>
      <vt:lpstr>Brand vs Selling Price</vt:lpstr>
      <vt:lpstr>Brand Vs Discount</vt:lpstr>
      <vt:lpstr>Brand Vs ROM(Storage)</vt:lpstr>
      <vt:lpstr>Category Distribution Of Mobiles</vt:lpstr>
      <vt:lpstr>Selling Price Vs MRP Price </vt:lpstr>
      <vt:lpstr>Selling Price Vs ROM(Storage)</vt:lpstr>
      <vt:lpstr>Hypothesis Testing</vt:lpstr>
      <vt:lpstr>Hypothesis Testing</vt:lpstr>
      <vt:lpstr>Recommendations</vt:lpstr>
      <vt:lpstr>Conclusions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Kuchani Vamshi</cp:lastModifiedBy>
  <cp:revision>39</cp:revision>
  <dcterms:created xsi:type="dcterms:W3CDTF">2021-02-16T05:19:01Z</dcterms:created>
  <dcterms:modified xsi:type="dcterms:W3CDTF">2026-01-31T04:09:13Z</dcterms:modified>
</cp:coreProperties>
</file>